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8288000" cy="10287000"/>
  <p:notesSz cx="6858000" cy="9144000"/>
  <p:embeddedFontLst>
    <p:embeddedFont>
      <p:font typeface="Canva Sans" panose="020B0604020202020204" charset="0"/>
      <p:regular r:id="rId43"/>
    </p:embeddedFont>
    <p:embeddedFont>
      <p:font typeface="Canva Sans Bold" panose="020B0604020202020204"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310136" cy="8992601"/>
          </a:xfrm>
          <a:custGeom>
            <a:avLst/>
            <a:gdLst/>
            <a:ahLst/>
            <a:cxnLst/>
            <a:rect l="l" t="t" r="r" b="b"/>
            <a:pathLst>
              <a:path w="18310136" h="8992601">
                <a:moveTo>
                  <a:pt x="0" y="0"/>
                </a:moveTo>
                <a:lnTo>
                  <a:pt x="18310136" y="0"/>
                </a:lnTo>
                <a:lnTo>
                  <a:pt x="18310136" y="8992601"/>
                </a:lnTo>
                <a:lnTo>
                  <a:pt x="0" y="8992601"/>
                </a:lnTo>
                <a:lnTo>
                  <a:pt x="0" y="0"/>
                </a:lnTo>
                <a:close/>
              </a:path>
            </a:pathLst>
          </a:custGeom>
          <a:blipFill>
            <a:blip r:embed="rId2"/>
            <a:stretch>
              <a:fillRect b="-14394"/>
            </a:stretch>
          </a:blipFill>
        </p:spPr>
        <p:txBody>
          <a:bodyPr/>
          <a:lstStyle/>
          <a:p>
            <a:endParaRPr lang="en-GB"/>
          </a:p>
        </p:txBody>
      </p:sp>
      <p:sp>
        <p:nvSpPr>
          <p:cNvPr id="3" name="TextBox 3"/>
          <p:cNvSpPr txBox="1"/>
          <p:nvPr/>
        </p:nvSpPr>
        <p:spPr>
          <a:xfrm>
            <a:off x="1028700" y="5245311"/>
            <a:ext cx="4082285" cy="2647949"/>
          </a:xfrm>
          <a:prstGeom prst="rect">
            <a:avLst/>
          </a:prstGeom>
        </p:spPr>
        <p:txBody>
          <a:bodyPr lIns="0" tIns="0" rIns="0" bIns="0" rtlCol="0" anchor="t">
            <a:spAutoFit/>
          </a:bodyPr>
          <a:lstStyle/>
          <a:p>
            <a:pPr algn="just">
              <a:lnSpc>
                <a:spcPts val="4200"/>
              </a:lnSpc>
            </a:pPr>
            <a:r>
              <a:rPr lang="en-US" sz="3000" b="1">
                <a:solidFill>
                  <a:srgbClr val="000000"/>
                </a:solidFill>
                <a:latin typeface="Canva Sans Bold"/>
                <a:ea typeface="Canva Sans Bold"/>
                <a:cs typeface="Canva Sans Bold"/>
                <a:sym typeface="Canva Sans Bold"/>
              </a:rPr>
              <a:t>By :</a:t>
            </a:r>
          </a:p>
          <a:p>
            <a:pPr algn="just">
              <a:lnSpc>
                <a:spcPts val="4200"/>
              </a:lnSpc>
            </a:pPr>
            <a:r>
              <a:rPr lang="en-US" sz="3000" b="1">
                <a:solidFill>
                  <a:srgbClr val="000000"/>
                </a:solidFill>
                <a:latin typeface="Canva Sans Bold"/>
                <a:ea typeface="Canva Sans Bold"/>
                <a:cs typeface="Canva Sans Bold"/>
                <a:sym typeface="Canva Sans Bold"/>
              </a:rPr>
              <a:t>Mahmoud Nweija </a:t>
            </a:r>
          </a:p>
          <a:p>
            <a:pPr algn="just">
              <a:lnSpc>
                <a:spcPts val="4200"/>
              </a:lnSpc>
            </a:pPr>
            <a:r>
              <a:rPr lang="en-US" sz="3000" b="1">
                <a:solidFill>
                  <a:srgbClr val="000000"/>
                </a:solidFill>
                <a:latin typeface="Canva Sans Bold"/>
                <a:ea typeface="Canva Sans Bold"/>
                <a:cs typeface="Canva Sans Bold"/>
                <a:sym typeface="Canva Sans Bold"/>
              </a:rPr>
              <a:t>Shurouq Abu Ewaili</a:t>
            </a:r>
          </a:p>
          <a:p>
            <a:pPr algn="just">
              <a:lnSpc>
                <a:spcPts val="4200"/>
              </a:lnSpc>
            </a:pPr>
            <a:r>
              <a:rPr lang="en-US" sz="3000" b="1">
                <a:solidFill>
                  <a:srgbClr val="000000"/>
                </a:solidFill>
                <a:latin typeface="Canva Sans Bold"/>
                <a:ea typeface="Canva Sans Bold"/>
                <a:cs typeface="Canva Sans Bold"/>
                <a:sym typeface="Canva Sans Bold"/>
              </a:rPr>
              <a:t>Mona Alrozzi</a:t>
            </a:r>
          </a:p>
          <a:p>
            <a:pPr marL="0" lvl="0" indent="0" algn="l">
              <a:lnSpc>
                <a:spcPts val="4200"/>
              </a:lnSpc>
              <a:spcBef>
                <a:spcPct val="0"/>
              </a:spcBef>
            </a:pPr>
            <a:endParaRPr lang="en-US" sz="3000" b="1">
              <a:solidFill>
                <a:srgbClr val="000000"/>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44929"/>
            <a:ext cx="18503121" cy="8997143"/>
          </a:xfrm>
          <a:custGeom>
            <a:avLst/>
            <a:gdLst/>
            <a:ahLst/>
            <a:cxnLst/>
            <a:rect l="l" t="t" r="r" b="b"/>
            <a:pathLst>
              <a:path w="18503121" h="8997143">
                <a:moveTo>
                  <a:pt x="0" y="0"/>
                </a:moveTo>
                <a:lnTo>
                  <a:pt x="18503121" y="0"/>
                </a:lnTo>
                <a:lnTo>
                  <a:pt x="18503121" y="8997142"/>
                </a:lnTo>
                <a:lnTo>
                  <a:pt x="0" y="8997142"/>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4400"/>
            <a:ext cx="18288000" cy="9372600"/>
          </a:xfrm>
          <a:custGeom>
            <a:avLst/>
            <a:gdLst/>
            <a:ahLst/>
            <a:cxnLst/>
            <a:rect l="l" t="t" r="r" b="b"/>
            <a:pathLst>
              <a:path w="18288000" h="9372600">
                <a:moveTo>
                  <a:pt x="0" y="0"/>
                </a:moveTo>
                <a:lnTo>
                  <a:pt x="18288000" y="0"/>
                </a:lnTo>
                <a:lnTo>
                  <a:pt x="18288000" y="9372600"/>
                </a:lnTo>
                <a:lnTo>
                  <a:pt x="0" y="93726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45770"/>
            <a:ext cx="19155679" cy="9841230"/>
          </a:xfrm>
          <a:custGeom>
            <a:avLst/>
            <a:gdLst/>
            <a:ahLst/>
            <a:cxnLst/>
            <a:rect l="l" t="t" r="r" b="b"/>
            <a:pathLst>
              <a:path w="19155679" h="9841230">
                <a:moveTo>
                  <a:pt x="0" y="0"/>
                </a:moveTo>
                <a:lnTo>
                  <a:pt x="19155679" y="0"/>
                </a:lnTo>
                <a:lnTo>
                  <a:pt x="19155679" y="9841230"/>
                </a:lnTo>
                <a:lnTo>
                  <a:pt x="0" y="984123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34340"/>
            <a:ext cx="18288000" cy="9418320"/>
          </a:xfrm>
          <a:custGeom>
            <a:avLst/>
            <a:gdLst/>
            <a:ahLst/>
            <a:cxnLst/>
            <a:rect l="l" t="t" r="r" b="b"/>
            <a:pathLst>
              <a:path w="18288000" h="9418320">
                <a:moveTo>
                  <a:pt x="0" y="0"/>
                </a:moveTo>
                <a:lnTo>
                  <a:pt x="18288000" y="0"/>
                </a:lnTo>
                <a:lnTo>
                  <a:pt x="18288000" y="9418320"/>
                </a:lnTo>
                <a:lnTo>
                  <a:pt x="0" y="941832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43804"/>
            <a:ext cx="18288000" cy="9399392"/>
          </a:xfrm>
          <a:custGeom>
            <a:avLst/>
            <a:gdLst/>
            <a:ahLst/>
            <a:cxnLst/>
            <a:rect l="l" t="t" r="r" b="b"/>
            <a:pathLst>
              <a:path w="18288000" h="9399392">
                <a:moveTo>
                  <a:pt x="0" y="0"/>
                </a:moveTo>
                <a:lnTo>
                  <a:pt x="18288000" y="0"/>
                </a:lnTo>
                <a:lnTo>
                  <a:pt x="18288000" y="9399392"/>
                </a:lnTo>
                <a:lnTo>
                  <a:pt x="0" y="9399392"/>
                </a:lnTo>
                <a:lnTo>
                  <a:pt x="0" y="0"/>
                </a:lnTo>
                <a:close/>
              </a:path>
            </a:pathLst>
          </a:custGeom>
          <a:blipFill>
            <a:blip r:embed="rId2"/>
            <a:stretch>
              <a:fillRect b="-6281"/>
            </a:stretch>
          </a:blipFill>
        </p:spPr>
        <p:txBody>
          <a:bodyPr/>
          <a:lstStyle/>
          <a:p>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9878261" cy="10287000"/>
          </a:xfrm>
          <a:custGeom>
            <a:avLst/>
            <a:gdLst/>
            <a:ahLst/>
            <a:cxnLst/>
            <a:rect l="l" t="t" r="r" b="b"/>
            <a:pathLst>
              <a:path w="19878261" h="10287000">
                <a:moveTo>
                  <a:pt x="0" y="0"/>
                </a:moveTo>
                <a:lnTo>
                  <a:pt x="19878261" y="0"/>
                </a:lnTo>
                <a:lnTo>
                  <a:pt x="19878261" y="10287000"/>
                </a:lnTo>
                <a:lnTo>
                  <a:pt x="0" y="102870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95300"/>
            <a:ext cx="18523049" cy="9516216"/>
          </a:xfrm>
          <a:custGeom>
            <a:avLst/>
            <a:gdLst/>
            <a:ahLst/>
            <a:cxnLst/>
            <a:rect l="l" t="t" r="r" b="b"/>
            <a:pathLst>
              <a:path w="18523049" h="9516216">
                <a:moveTo>
                  <a:pt x="0" y="0"/>
                </a:moveTo>
                <a:lnTo>
                  <a:pt x="18523049" y="0"/>
                </a:lnTo>
                <a:lnTo>
                  <a:pt x="18523049" y="9516216"/>
                </a:lnTo>
                <a:lnTo>
                  <a:pt x="0" y="9516216"/>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34340"/>
            <a:ext cx="18288000" cy="9418320"/>
          </a:xfrm>
          <a:custGeom>
            <a:avLst/>
            <a:gdLst/>
            <a:ahLst/>
            <a:cxnLst/>
            <a:rect l="l" t="t" r="r" b="b"/>
            <a:pathLst>
              <a:path w="18288000" h="9418320">
                <a:moveTo>
                  <a:pt x="0" y="0"/>
                </a:moveTo>
                <a:lnTo>
                  <a:pt x="18288000" y="0"/>
                </a:lnTo>
                <a:lnTo>
                  <a:pt x="18288000" y="9418320"/>
                </a:lnTo>
                <a:lnTo>
                  <a:pt x="0" y="941832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29478"/>
            <a:ext cx="18288000" cy="9326880"/>
          </a:xfrm>
          <a:custGeom>
            <a:avLst/>
            <a:gdLst/>
            <a:ahLst/>
            <a:cxnLst/>
            <a:rect l="l" t="t" r="r" b="b"/>
            <a:pathLst>
              <a:path w="18288000" h="9326880">
                <a:moveTo>
                  <a:pt x="0" y="0"/>
                </a:moveTo>
                <a:lnTo>
                  <a:pt x="18288000" y="0"/>
                </a:lnTo>
                <a:lnTo>
                  <a:pt x="18288000" y="9326880"/>
                </a:lnTo>
                <a:lnTo>
                  <a:pt x="0" y="932688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68630"/>
            <a:ext cx="18288000" cy="3096645"/>
          </a:xfrm>
          <a:custGeom>
            <a:avLst/>
            <a:gdLst/>
            <a:ahLst/>
            <a:cxnLst/>
            <a:rect l="l" t="t" r="r" b="b"/>
            <a:pathLst>
              <a:path w="18288000" h="3096645">
                <a:moveTo>
                  <a:pt x="0" y="0"/>
                </a:moveTo>
                <a:lnTo>
                  <a:pt x="18288000" y="0"/>
                </a:lnTo>
                <a:lnTo>
                  <a:pt x="18288000" y="3096645"/>
                </a:lnTo>
                <a:lnTo>
                  <a:pt x="0" y="3096645"/>
                </a:lnTo>
                <a:lnTo>
                  <a:pt x="0" y="0"/>
                </a:lnTo>
                <a:close/>
              </a:path>
            </a:pathLst>
          </a:custGeom>
          <a:blipFill>
            <a:blip r:embed="rId2"/>
            <a:stretch>
              <a:fillRect b="-201931"/>
            </a:stretch>
          </a:blipFill>
        </p:spPr>
        <p:txBody>
          <a:bodyPr/>
          <a:lstStyle/>
          <a:p>
            <a:endParaRPr lang="en-GB"/>
          </a:p>
        </p:txBody>
      </p:sp>
      <p:sp>
        <p:nvSpPr>
          <p:cNvPr id="3" name="Freeform 3"/>
          <p:cNvSpPr/>
          <p:nvPr/>
        </p:nvSpPr>
        <p:spPr>
          <a:xfrm>
            <a:off x="1028700" y="3565275"/>
            <a:ext cx="15893049" cy="3559642"/>
          </a:xfrm>
          <a:custGeom>
            <a:avLst/>
            <a:gdLst/>
            <a:ahLst/>
            <a:cxnLst/>
            <a:rect l="l" t="t" r="r" b="b"/>
            <a:pathLst>
              <a:path w="15893049" h="3559642">
                <a:moveTo>
                  <a:pt x="0" y="0"/>
                </a:moveTo>
                <a:lnTo>
                  <a:pt x="15893049" y="0"/>
                </a:lnTo>
                <a:lnTo>
                  <a:pt x="15893049" y="3559642"/>
                </a:lnTo>
                <a:lnTo>
                  <a:pt x="0" y="3559642"/>
                </a:lnTo>
                <a:lnTo>
                  <a:pt x="0" y="0"/>
                </a:lnTo>
                <a:close/>
              </a:path>
            </a:pathLst>
          </a:custGeom>
          <a:blipFill>
            <a:blip r:embed="rId3"/>
            <a:stretch>
              <a:fillRect/>
            </a:stretch>
          </a:blipFill>
        </p:spPr>
        <p:txBody>
          <a:bodyPr/>
          <a:lstStyle/>
          <a:p>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00050"/>
            <a:ext cx="18288000" cy="9486900"/>
          </a:xfrm>
          <a:custGeom>
            <a:avLst/>
            <a:gdLst/>
            <a:ahLst/>
            <a:cxnLst/>
            <a:rect l="l" t="t" r="r" b="b"/>
            <a:pathLst>
              <a:path w="18288000" h="9486900">
                <a:moveTo>
                  <a:pt x="0" y="0"/>
                </a:moveTo>
                <a:lnTo>
                  <a:pt x="18288000" y="0"/>
                </a:lnTo>
                <a:lnTo>
                  <a:pt x="18288000" y="9486900"/>
                </a:lnTo>
                <a:lnTo>
                  <a:pt x="0" y="94869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4389120"/>
          </a:xfrm>
          <a:custGeom>
            <a:avLst/>
            <a:gdLst/>
            <a:ahLst/>
            <a:cxnLst/>
            <a:rect l="l" t="t" r="r" b="b"/>
            <a:pathLst>
              <a:path w="18288000" h="4389120">
                <a:moveTo>
                  <a:pt x="0" y="0"/>
                </a:moveTo>
                <a:lnTo>
                  <a:pt x="18288000" y="0"/>
                </a:lnTo>
                <a:lnTo>
                  <a:pt x="18288000" y="4389120"/>
                </a:lnTo>
                <a:lnTo>
                  <a:pt x="0" y="4389120"/>
                </a:lnTo>
                <a:lnTo>
                  <a:pt x="0" y="0"/>
                </a:lnTo>
                <a:close/>
              </a:path>
            </a:pathLst>
          </a:custGeom>
          <a:blipFill>
            <a:blip r:embed="rId2"/>
            <a:stretch>
              <a:fillRect/>
            </a:stretch>
          </a:blipFill>
        </p:spPr>
        <p:txBody>
          <a:bodyPr/>
          <a:lstStyle/>
          <a:p>
            <a:endParaRPr lang="en-GB"/>
          </a:p>
        </p:txBody>
      </p:sp>
      <p:sp>
        <p:nvSpPr>
          <p:cNvPr id="3" name="Freeform 3"/>
          <p:cNvSpPr/>
          <p:nvPr/>
        </p:nvSpPr>
        <p:spPr>
          <a:xfrm>
            <a:off x="4792311" y="2194560"/>
            <a:ext cx="10142889" cy="8092440"/>
          </a:xfrm>
          <a:custGeom>
            <a:avLst/>
            <a:gdLst/>
            <a:ahLst/>
            <a:cxnLst/>
            <a:rect l="l" t="t" r="r" b="b"/>
            <a:pathLst>
              <a:path w="10142889" h="8092440">
                <a:moveTo>
                  <a:pt x="0" y="0"/>
                </a:moveTo>
                <a:lnTo>
                  <a:pt x="10142889" y="0"/>
                </a:lnTo>
                <a:lnTo>
                  <a:pt x="10142889" y="8092440"/>
                </a:lnTo>
                <a:lnTo>
                  <a:pt x="0" y="8092440"/>
                </a:lnTo>
                <a:lnTo>
                  <a:pt x="0" y="0"/>
                </a:lnTo>
                <a:close/>
              </a:path>
            </a:pathLst>
          </a:custGeom>
          <a:blipFill>
            <a:blip r:embed="rId3"/>
            <a:stretch>
              <a:fillRect/>
            </a:stretch>
          </a:blipFill>
        </p:spPr>
        <p:txBody>
          <a:bodyP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34340"/>
            <a:ext cx="18288000" cy="9418320"/>
          </a:xfrm>
          <a:custGeom>
            <a:avLst/>
            <a:gdLst/>
            <a:ahLst/>
            <a:cxnLst/>
            <a:rect l="l" t="t" r="r" b="b"/>
            <a:pathLst>
              <a:path w="18288000" h="9418320">
                <a:moveTo>
                  <a:pt x="0" y="0"/>
                </a:moveTo>
                <a:lnTo>
                  <a:pt x="18288000" y="0"/>
                </a:lnTo>
                <a:lnTo>
                  <a:pt x="18288000" y="9418320"/>
                </a:lnTo>
                <a:lnTo>
                  <a:pt x="0" y="941832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143" y="0"/>
            <a:ext cx="18238857" cy="3587983"/>
          </a:xfrm>
          <a:custGeom>
            <a:avLst/>
            <a:gdLst/>
            <a:ahLst/>
            <a:cxnLst/>
            <a:rect l="l" t="t" r="r" b="b"/>
            <a:pathLst>
              <a:path w="18238857" h="3587983">
                <a:moveTo>
                  <a:pt x="0" y="0"/>
                </a:moveTo>
                <a:lnTo>
                  <a:pt x="18238857" y="0"/>
                </a:lnTo>
                <a:lnTo>
                  <a:pt x="18238857" y="3587983"/>
                </a:lnTo>
                <a:lnTo>
                  <a:pt x="0" y="3587983"/>
                </a:lnTo>
                <a:lnTo>
                  <a:pt x="0" y="0"/>
                </a:lnTo>
                <a:close/>
              </a:path>
            </a:pathLst>
          </a:custGeom>
          <a:blipFill>
            <a:blip r:embed="rId2"/>
            <a:stretch>
              <a:fillRect l="-269" b="-162496"/>
            </a:stretch>
          </a:blipFill>
        </p:spPr>
        <p:txBody>
          <a:bodyPr/>
          <a:lstStyle/>
          <a:p>
            <a:endParaRPr lang="en-GB"/>
          </a:p>
        </p:txBody>
      </p:sp>
      <p:sp>
        <p:nvSpPr>
          <p:cNvPr id="3" name="Freeform 3"/>
          <p:cNvSpPr/>
          <p:nvPr/>
        </p:nvSpPr>
        <p:spPr>
          <a:xfrm>
            <a:off x="2715835" y="2476500"/>
            <a:ext cx="12905472" cy="6817985"/>
          </a:xfrm>
          <a:custGeom>
            <a:avLst/>
            <a:gdLst/>
            <a:ahLst/>
            <a:cxnLst/>
            <a:rect l="l" t="t" r="r" b="b"/>
            <a:pathLst>
              <a:path w="12905472" h="6817985">
                <a:moveTo>
                  <a:pt x="0" y="0"/>
                </a:moveTo>
                <a:lnTo>
                  <a:pt x="12905473" y="0"/>
                </a:lnTo>
                <a:lnTo>
                  <a:pt x="12905473" y="6817985"/>
                </a:lnTo>
                <a:lnTo>
                  <a:pt x="0" y="6817985"/>
                </a:lnTo>
                <a:lnTo>
                  <a:pt x="0" y="0"/>
                </a:lnTo>
                <a:close/>
              </a:path>
            </a:pathLst>
          </a:custGeom>
          <a:blipFill>
            <a:blip r:embed="rId3"/>
            <a:stretch>
              <a:fillRect/>
            </a:stretch>
          </a:blipFill>
        </p:spPr>
        <p:txBody>
          <a:bodyPr/>
          <a:lstStyle/>
          <a:p>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434" y="0"/>
            <a:ext cx="18261566" cy="9424134"/>
          </a:xfrm>
          <a:custGeom>
            <a:avLst/>
            <a:gdLst/>
            <a:ahLst/>
            <a:cxnLst/>
            <a:rect l="l" t="t" r="r" b="b"/>
            <a:pathLst>
              <a:path w="18261566" h="9424134">
                <a:moveTo>
                  <a:pt x="0" y="0"/>
                </a:moveTo>
                <a:lnTo>
                  <a:pt x="18261566" y="0"/>
                </a:lnTo>
                <a:lnTo>
                  <a:pt x="18261566" y="9424134"/>
                </a:lnTo>
                <a:lnTo>
                  <a:pt x="0" y="9424134"/>
                </a:lnTo>
                <a:lnTo>
                  <a:pt x="0" y="0"/>
                </a:lnTo>
                <a:close/>
              </a:path>
            </a:pathLst>
          </a:custGeom>
          <a:blipFill>
            <a:blip r:embed="rId2"/>
            <a:stretch>
              <a:fillRect l="-144" b="-1151"/>
            </a:stretch>
          </a:blipFill>
        </p:spPr>
        <p:txBody>
          <a:bodyPr/>
          <a:lstStyle/>
          <a:p>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57200"/>
            <a:ext cx="18288000" cy="9372600"/>
          </a:xfrm>
          <a:custGeom>
            <a:avLst/>
            <a:gdLst/>
            <a:ahLst/>
            <a:cxnLst/>
            <a:rect l="l" t="t" r="r" b="b"/>
            <a:pathLst>
              <a:path w="18288000" h="9372600">
                <a:moveTo>
                  <a:pt x="0" y="0"/>
                </a:moveTo>
                <a:lnTo>
                  <a:pt x="18288000" y="0"/>
                </a:lnTo>
                <a:lnTo>
                  <a:pt x="18288000" y="9372600"/>
                </a:lnTo>
                <a:lnTo>
                  <a:pt x="0" y="93726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434" y="0"/>
            <a:ext cx="18261566" cy="4382790"/>
          </a:xfrm>
          <a:custGeom>
            <a:avLst/>
            <a:gdLst/>
            <a:ahLst/>
            <a:cxnLst/>
            <a:rect l="l" t="t" r="r" b="b"/>
            <a:pathLst>
              <a:path w="18261566" h="4382790">
                <a:moveTo>
                  <a:pt x="0" y="0"/>
                </a:moveTo>
                <a:lnTo>
                  <a:pt x="18261566" y="0"/>
                </a:lnTo>
                <a:lnTo>
                  <a:pt x="18261566" y="4382790"/>
                </a:lnTo>
                <a:lnTo>
                  <a:pt x="0" y="4382790"/>
                </a:lnTo>
                <a:lnTo>
                  <a:pt x="0" y="0"/>
                </a:lnTo>
                <a:close/>
              </a:path>
            </a:pathLst>
          </a:custGeom>
          <a:blipFill>
            <a:blip r:embed="rId2"/>
            <a:stretch>
              <a:fillRect l="-144" b="-114893"/>
            </a:stretch>
          </a:blipFill>
        </p:spPr>
        <p:txBody>
          <a:bodyPr/>
          <a:lstStyle/>
          <a:p>
            <a:endParaRPr lang="en-GB"/>
          </a:p>
        </p:txBody>
      </p:sp>
      <p:sp>
        <p:nvSpPr>
          <p:cNvPr id="3" name="Freeform 3"/>
          <p:cNvSpPr/>
          <p:nvPr/>
        </p:nvSpPr>
        <p:spPr>
          <a:xfrm>
            <a:off x="5240771" y="2248167"/>
            <a:ext cx="7458727" cy="7786984"/>
          </a:xfrm>
          <a:custGeom>
            <a:avLst/>
            <a:gdLst/>
            <a:ahLst/>
            <a:cxnLst/>
            <a:rect l="l" t="t" r="r" b="b"/>
            <a:pathLst>
              <a:path w="7458727" h="7786984">
                <a:moveTo>
                  <a:pt x="0" y="0"/>
                </a:moveTo>
                <a:lnTo>
                  <a:pt x="7458726" y="0"/>
                </a:lnTo>
                <a:lnTo>
                  <a:pt x="7458726" y="7786983"/>
                </a:lnTo>
                <a:lnTo>
                  <a:pt x="0" y="7786983"/>
                </a:lnTo>
                <a:lnTo>
                  <a:pt x="0" y="0"/>
                </a:lnTo>
                <a:close/>
              </a:path>
            </a:pathLst>
          </a:custGeom>
          <a:blipFill>
            <a:blip r:embed="rId3"/>
            <a:stretch>
              <a:fillRect/>
            </a:stretch>
          </a:blipFill>
        </p:spPr>
        <p:txBody>
          <a:bodyPr/>
          <a:lstStyle/>
          <a:p>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9418320"/>
          </a:xfrm>
          <a:custGeom>
            <a:avLst/>
            <a:gdLst/>
            <a:ahLst/>
            <a:cxnLst/>
            <a:rect l="l" t="t" r="r" b="b"/>
            <a:pathLst>
              <a:path w="18288000" h="9418320">
                <a:moveTo>
                  <a:pt x="0" y="0"/>
                </a:moveTo>
                <a:lnTo>
                  <a:pt x="18288000" y="0"/>
                </a:lnTo>
                <a:lnTo>
                  <a:pt x="18288000" y="9418320"/>
                </a:lnTo>
                <a:lnTo>
                  <a:pt x="0" y="941832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60"/>
            <a:ext cx="16266921" cy="10241280"/>
          </a:xfrm>
          <a:custGeom>
            <a:avLst/>
            <a:gdLst/>
            <a:ahLst/>
            <a:cxnLst/>
            <a:rect l="l" t="t" r="r" b="b"/>
            <a:pathLst>
              <a:path w="16266921" h="10241280">
                <a:moveTo>
                  <a:pt x="0" y="0"/>
                </a:moveTo>
                <a:lnTo>
                  <a:pt x="16266921" y="0"/>
                </a:lnTo>
                <a:lnTo>
                  <a:pt x="16266921" y="10241280"/>
                </a:lnTo>
                <a:lnTo>
                  <a:pt x="0" y="10241280"/>
                </a:lnTo>
                <a:lnTo>
                  <a:pt x="0" y="0"/>
                </a:lnTo>
                <a:close/>
              </a:path>
            </a:pathLst>
          </a:custGeom>
          <a:blipFill>
            <a:blip r:embed="rId2"/>
            <a:stretch>
              <a:fillRect r="-12424"/>
            </a:stretch>
          </a:blipFill>
        </p:spPr>
        <p:txBody>
          <a:bodyPr/>
          <a:lstStyle/>
          <a:p>
            <a:endParaRPr lang="en-GB"/>
          </a:p>
        </p:txBody>
      </p:sp>
      <p:sp>
        <p:nvSpPr>
          <p:cNvPr id="3" name="Freeform 3"/>
          <p:cNvSpPr/>
          <p:nvPr/>
        </p:nvSpPr>
        <p:spPr>
          <a:xfrm>
            <a:off x="10131145" y="2123250"/>
            <a:ext cx="8156855" cy="8163750"/>
          </a:xfrm>
          <a:custGeom>
            <a:avLst/>
            <a:gdLst/>
            <a:ahLst/>
            <a:cxnLst/>
            <a:rect l="l" t="t" r="r" b="b"/>
            <a:pathLst>
              <a:path w="8156855" h="8163750">
                <a:moveTo>
                  <a:pt x="0" y="0"/>
                </a:moveTo>
                <a:lnTo>
                  <a:pt x="8156855" y="0"/>
                </a:lnTo>
                <a:lnTo>
                  <a:pt x="8156855" y="8163750"/>
                </a:lnTo>
                <a:lnTo>
                  <a:pt x="0" y="8163750"/>
                </a:lnTo>
                <a:lnTo>
                  <a:pt x="0" y="0"/>
                </a:lnTo>
                <a:close/>
              </a:path>
            </a:pathLst>
          </a:custGeom>
          <a:blipFill>
            <a:blip r:embed="rId3"/>
            <a:stretch>
              <a:fillRect/>
            </a:stretch>
          </a:blipFill>
        </p:spPr>
        <p:txBody>
          <a:bodyPr/>
          <a:lstStyle/>
          <a:p>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53012" y="394197"/>
            <a:ext cx="11990884" cy="9498607"/>
          </a:xfrm>
          <a:custGeom>
            <a:avLst/>
            <a:gdLst/>
            <a:ahLst/>
            <a:cxnLst/>
            <a:rect l="l" t="t" r="r" b="b"/>
            <a:pathLst>
              <a:path w="11990884" h="9498607">
                <a:moveTo>
                  <a:pt x="0" y="0"/>
                </a:moveTo>
                <a:lnTo>
                  <a:pt x="11990885" y="0"/>
                </a:lnTo>
                <a:lnTo>
                  <a:pt x="11990885" y="9498606"/>
                </a:lnTo>
                <a:lnTo>
                  <a:pt x="0" y="9498606"/>
                </a:lnTo>
                <a:lnTo>
                  <a:pt x="0" y="0"/>
                </a:lnTo>
                <a:close/>
              </a:path>
            </a:pathLst>
          </a:custGeom>
          <a:blipFill>
            <a:blip r:embed="rId2"/>
            <a:stretch>
              <a:fillRect l="-53815"/>
            </a:stretch>
          </a:blipFill>
        </p:spPr>
        <p:txBody>
          <a:bodyPr/>
          <a:lstStyle/>
          <a:p>
            <a:endParaRPr lang="en-GB"/>
          </a:p>
        </p:txBody>
      </p:sp>
      <p:sp>
        <p:nvSpPr>
          <p:cNvPr id="3" name="TextBox 3"/>
          <p:cNvSpPr txBox="1"/>
          <p:nvPr/>
        </p:nvSpPr>
        <p:spPr>
          <a:xfrm>
            <a:off x="1028700" y="3926205"/>
            <a:ext cx="4412950" cy="2910840"/>
          </a:xfrm>
          <a:prstGeom prst="rect">
            <a:avLst/>
          </a:prstGeom>
        </p:spPr>
        <p:txBody>
          <a:bodyPr lIns="0" tIns="0" rIns="0" bIns="0" rtlCol="0" anchor="t">
            <a:spAutoFit/>
          </a:bodyPr>
          <a:lstStyle/>
          <a:p>
            <a:pPr algn="l">
              <a:lnSpc>
                <a:spcPts val="3359"/>
              </a:lnSpc>
            </a:pPr>
            <a:r>
              <a:rPr lang="en-US" sz="2400" b="1">
                <a:solidFill>
                  <a:srgbClr val="000000"/>
                </a:solidFill>
                <a:latin typeface="Canva Sans Bold"/>
                <a:ea typeface="Canva Sans Bold"/>
                <a:cs typeface="Canva Sans Bold"/>
                <a:sym typeface="Canva Sans Bold"/>
              </a:rPr>
              <a:t>ANOVA (Analysis of Variance) is a statistical test used to compare the means of three or more groups to determine whether there are statistically significant differences between them.</a:t>
            </a:r>
          </a:p>
        </p:txBody>
      </p:sp>
      <p:sp>
        <p:nvSpPr>
          <p:cNvPr id="4" name="TextBox 4"/>
          <p:cNvSpPr txBox="1"/>
          <p:nvPr/>
        </p:nvSpPr>
        <p:spPr>
          <a:xfrm>
            <a:off x="-817515" y="3215176"/>
            <a:ext cx="6888204" cy="587376"/>
          </a:xfrm>
          <a:prstGeom prst="rect">
            <a:avLst/>
          </a:prstGeom>
        </p:spPr>
        <p:txBody>
          <a:bodyPr lIns="0" tIns="0" rIns="0" bIns="0" rtlCol="0" anchor="t">
            <a:spAutoFit/>
          </a:bodyPr>
          <a:lstStyle/>
          <a:p>
            <a:pPr algn="ctr">
              <a:lnSpc>
                <a:spcPts val="4899"/>
              </a:lnSpc>
            </a:pPr>
            <a:r>
              <a:rPr lang="en-US" sz="3499" b="1">
                <a:solidFill>
                  <a:srgbClr val="000000"/>
                </a:solidFill>
                <a:latin typeface="Canva Sans Bold"/>
                <a:ea typeface="Canva Sans Bold"/>
                <a:cs typeface="Canva Sans Bold"/>
                <a:sym typeface="Canva Sans Bold"/>
              </a:rPr>
              <a:t>ANOVA Results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57200"/>
            <a:ext cx="18288000" cy="9372600"/>
          </a:xfrm>
          <a:custGeom>
            <a:avLst/>
            <a:gdLst/>
            <a:ahLst/>
            <a:cxnLst/>
            <a:rect l="l" t="t" r="r" b="b"/>
            <a:pathLst>
              <a:path w="18288000" h="9372600">
                <a:moveTo>
                  <a:pt x="0" y="0"/>
                </a:moveTo>
                <a:lnTo>
                  <a:pt x="18288000" y="0"/>
                </a:lnTo>
                <a:lnTo>
                  <a:pt x="18288000" y="9372600"/>
                </a:lnTo>
                <a:lnTo>
                  <a:pt x="0" y="93726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365" y="-38100"/>
            <a:ext cx="18328731" cy="10287000"/>
          </a:xfrm>
          <a:custGeom>
            <a:avLst/>
            <a:gdLst/>
            <a:ahLst/>
            <a:cxnLst/>
            <a:rect l="l" t="t" r="r" b="b"/>
            <a:pathLst>
              <a:path w="18328731" h="10287000">
                <a:moveTo>
                  <a:pt x="0" y="0"/>
                </a:moveTo>
                <a:lnTo>
                  <a:pt x="18328730" y="0"/>
                </a:lnTo>
                <a:lnTo>
                  <a:pt x="18328730" y="10287000"/>
                </a:lnTo>
                <a:lnTo>
                  <a:pt x="0" y="102870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68630"/>
            <a:ext cx="18288000" cy="9349740"/>
          </a:xfrm>
          <a:custGeom>
            <a:avLst/>
            <a:gdLst/>
            <a:ahLst/>
            <a:cxnLst/>
            <a:rect l="l" t="t" r="r" b="b"/>
            <a:pathLst>
              <a:path w="18288000" h="9349740">
                <a:moveTo>
                  <a:pt x="0" y="0"/>
                </a:moveTo>
                <a:lnTo>
                  <a:pt x="18288000" y="0"/>
                </a:lnTo>
                <a:lnTo>
                  <a:pt x="18288000" y="9349740"/>
                </a:lnTo>
                <a:lnTo>
                  <a:pt x="0" y="934974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34340"/>
            <a:ext cx="18288000" cy="9418320"/>
          </a:xfrm>
          <a:custGeom>
            <a:avLst/>
            <a:gdLst/>
            <a:ahLst/>
            <a:cxnLst/>
            <a:rect l="l" t="t" r="r" b="b"/>
            <a:pathLst>
              <a:path w="18288000" h="9418320">
                <a:moveTo>
                  <a:pt x="0" y="0"/>
                </a:moveTo>
                <a:lnTo>
                  <a:pt x="18288000" y="0"/>
                </a:lnTo>
                <a:lnTo>
                  <a:pt x="18288000" y="9418320"/>
                </a:lnTo>
                <a:lnTo>
                  <a:pt x="0" y="941832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11480"/>
            <a:ext cx="18288000" cy="9464040"/>
          </a:xfrm>
          <a:custGeom>
            <a:avLst/>
            <a:gdLst/>
            <a:ahLst/>
            <a:cxnLst/>
            <a:rect l="l" t="t" r="r" b="b"/>
            <a:pathLst>
              <a:path w="18288000" h="9464040">
                <a:moveTo>
                  <a:pt x="0" y="0"/>
                </a:moveTo>
                <a:lnTo>
                  <a:pt x="18288000" y="0"/>
                </a:lnTo>
                <a:lnTo>
                  <a:pt x="18288000" y="9464040"/>
                </a:lnTo>
                <a:lnTo>
                  <a:pt x="0" y="946404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9528635"/>
          </a:xfrm>
          <a:custGeom>
            <a:avLst/>
            <a:gdLst/>
            <a:ahLst/>
            <a:cxnLst/>
            <a:rect l="l" t="t" r="r" b="b"/>
            <a:pathLst>
              <a:path w="18288000" h="9528635">
                <a:moveTo>
                  <a:pt x="0" y="0"/>
                </a:moveTo>
                <a:lnTo>
                  <a:pt x="18288000" y="0"/>
                </a:lnTo>
                <a:lnTo>
                  <a:pt x="18288000" y="9528635"/>
                </a:lnTo>
                <a:lnTo>
                  <a:pt x="0" y="9528635"/>
                </a:lnTo>
                <a:lnTo>
                  <a:pt x="0" y="0"/>
                </a:lnTo>
                <a:close/>
              </a:path>
            </a:pathLst>
          </a:custGeom>
          <a:blipFill>
            <a:blip r:embed="rId2"/>
            <a:stretch>
              <a:fillRect l="-771" b="-813"/>
            </a:stretch>
          </a:blipFill>
        </p:spPr>
        <p:txBody>
          <a:bodyPr/>
          <a:lstStyle/>
          <a:p>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45770"/>
            <a:ext cx="18288000" cy="9395460"/>
          </a:xfrm>
          <a:custGeom>
            <a:avLst/>
            <a:gdLst/>
            <a:ahLst/>
            <a:cxnLst/>
            <a:rect l="l" t="t" r="r" b="b"/>
            <a:pathLst>
              <a:path w="18288000" h="9395460">
                <a:moveTo>
                  <a:pt x="0" y="0"/>
                </a:moveTo>
                <a:lnTo>
                  <a:pt x="18288000" y="0"/>
                </a:lnTo>
                <a:lnTo>
                  <a:pt x="18288000" y="9395460"/>
                </a:lnTo>
                <a:lnTo>
                  <a:pt x="0" y="939546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34340"/>
            <a:ext cx="18288000" cy="9418320"/>
          </a:xfrm>
          <a:custGeom>
            <a:avLst/>
            <a:gdLst/>
            <a:ahLst/>
            <a:cxnLst/>
            <a:rect l="l" t="t" r="r" b="b"/>
            <a:pathLst>
              <a:path w="18288000" h="9418320">
                <a:moveTo>
                  <a:pt x="0" y="0"/>
                </a:moveTo>
                <a:lnTo>
                  <a:pt x="18288000" y="0"/>
                </a:lnTo>
                <a:lnTo>
                  <a:pt x="18288000" y="9418320"/>
                </a:lnTo>
                <a:lnTo>
                  <a:pt x="0" y="941832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271342" y="411480"/>
            <a:ext cx="12016658" cy="9464040"/>
          </a:xfrm>
          <a:custGeom>
            <a:avLst/>
            <a:gdLst/>
            <a:ahLst/>
            <a:cxnLst/>
            <a:rect l="l" t="t" r="r" b="b"/>
            <a:pathLst>
              <a:path w="12016658" h="9464040">
                <a:moveTo>
                  <a:pt x="0" y="0"/>
                </a:moveTo>
                <a:lnTo>
                  <a:pt x="12016658" y="0"/>
                </a:lnTo>
                <a:lnTo>
                  <a:pt x="12016658" y="9464040"/>
                </a:lnTo>
                <a:lnTo>
                  <a:pt x="0" y="9464040"/>
                </a:lnTo>
                <a:lnTo>
                  <a:pt x="0" y="0"/>
                </a:lnTo>
                <a:close/>
              </a:path>
            </a:pathLst>
          </a:custGeom>
          <a:blipFill>
            <a:blip r:embed="rId2"/>
            <a:stretch>
              <a:fillRect l="-52188"/>
            </a:stretch>
          </a:blipFill>
        </p:spPr>
        <p:txBody>
          <a:bodyPr/>
          <a:lstStyle/>
          <a:p>
            <a:endParaRPr lang="en-GB"/>
          </a:p>
        </p:txBody>
      </p:sp>
      <p:sp>
        <p:nvSpPr>
          <p:cNvPr id="3" name="TextBox 3"/>
          <p:cNvSpPr txBox="1"/>
          <p:nvPr/>
        </p:nvSpPr>
        <p:spPr>
          <a:xfrm>
            <a:off x="565279" y="4305300"/>
            <a:ext cx="5405329" cy="3749040"/>
          </a:xfrm>
          <a:prstGeom prst="rect">
            <a:avLst/>
          </a:prstGeom>
        </p:spPr>
        <p:txBody>
          <a:bodyPr lIns="0" tIns="0" rIns="0" bIns="0" rtlCol="0" anchor="t">
            <a:spAutoFit/>
          </a:bodyPr>
          <a:lstStyle/>
          <a:p>
            <a:pPr algn="l">
              <a:lnSpc>
                <a:spcPts val="3359"/>
              </a:lnSpc>
              <a:spcBef>
                <a:spcPct val="0"/>
              </a:spcBef>
            </a:pPr>
            <a:r>
              <a:rPr lang="en-US" sz="2400" dirty="0">
                <a:solidFill>
                  <a:srgbClr val="000000"/>
                </a:solidFill>
                <a:latin typeface="Canva Sans"/>
                <a:ea typeface="Canva Sans"/>
                <a:cs typeface="Canva Sans"/>
                <a:sym typeface="Canva Sans"/>
              </a:rPr>
              <a:t>Dimensionality Reduction techniques are used to reduce the number of features while retaining as much important information as possible. This helps simplify the model, improve computational efficiency, and reduce overfitting by removing redundant or less informative features.</a:t>
            </a:r>
          </a:p>
        </p:txBody>
      </p:sp>
      <p:sp>
        <p:nvSpPr>
          <p:cNvPr id="4" name="TextBox 4"/>
          <p:cNvSpPr txBox="1"/>
          <p:nvPr/>
        </p:nvSpPr>
        <p:spPr>
          <a:xfrm>
            <a:off x="597234" y="3071393"/>
            <a:ext cx="5471592" cy="580390"/>
          </a:xfrm>
          <a:prstGeom prst="rect">
            <a:avLst/>
          </a:prstGeom>
        </p:spPr>
        <p:txBody>
          <a:bodyPr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Dimensionality Reduction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57200"/>
            <a:ext cx="18288000" cy="9372600"/>
          </a:xfrm>
          <a:custGeom>
            <a:avLst/>
            <a:gdLst/>
            <a:ahLst/>
            <a:cxnLst/>
            <a:rect l="l" t="t" r="r" b="b"/>
            <a:pathLst>
              <a:path w="18288000" h="9372600">
                <a:moveTo>
                  <a:pt x="0" y="0"/>
                </a:moveTo>
                <a:lnTo>
                  <a:pt x="18288000" y="0"/>
                </a:lnTo>
                <a:lnTo>
                  <a:pt x="18288000" y="9372600"/>
                </a:lnTo>
                <a:lnTo>
                  <a:pt x="0" y="93726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57200"/>
            <a:ext cx="18288000" cy="9372600"/>
          </a:xfrm>
          <a:custGeom>
            <a:avLst/>
            <a:gdLst/>
            <a:ahLst/>
            <a:cxnLst/>
            <a:rect l="l" t="t" r="r" b="b"/>
            <a:pathLst>
              <a:path w="18288000" h="9372600">
                <a:moveTo>
                  <a:pt x="0" y="0"/>
                </a:moveTo>
                <a:lnTo>
                  <a:pt x="18288000" y="0"/>
                </a:lnTo>
                <a:lnTo>
                  <a:pt x="18288000" y="9372600"/>
                </a:lnTo>
                <a:lnTo>
                  <a:pt x="0" y="93726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68630"/>
            <a:ext cx="18288000" cy="9349740"/>
          </a:xfrm>
          <a:custGeom>
            <a:avLst/>
            <a:gdLst/>
            <a:ahLst/>
            <a:cxnLst/>
            <a:rect l="l" t="t" r="r" b="b"/>
            <a:pathLst>
              <a:path w="18288000" h="9349740">
                <a:moveTo>
                  <a:pt x="0" y="0"/>
                </a:moveTo>
                <a:lnTo>
                  <a:pt x="18288000" y="0"/>
                </a:lnTo>
                <a:lnTo>
                  <a:pt x="18288000" y="9349740"/>
                </a:lnTo>
                <a:lnTo>
                  <a:pt x="0" y="934974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6253" y="976477"/>
            <a:ext cx="18424253" cy="9310523"/>
          </a:xfrm>
          <a:custGeom>
            <a:avLst/>
            <a:gdLst/>
            <a:ahLst/>
            <a:cxnLst/>
            <a:rect l="l" t="t" r="r" b="b"/>
            <a:pathLst>
              <a:path w="18424253" h="9310523">
                <a:moveTo>
                  <a:pt x="0" y="0"/>
                </a:moveTo>
                <a:lnTo>
                  <a:pt x="18424253" y="0"/>
                </a:lnTo>
                <a:lnTo>
                  <a:pt x="18424253" y="9310523"/>
                </a:lnTo>
                <a:lnTo>
                  <a:pt x="0" y="9310523"/>
                </a:lnTo>
                <a:lnTo>
                  <a:pt x="0" y="0"/>
                </a:lnTo>
                <a:close/>
              </a:path>
            </a:pathLst>
          </a:custGeom>
          <a:blipFill>
            <a:blip r:embed="rId2"/>
            <a:stretch>
              <a:fillRect l="-150" t="-1816"/>
            </a:stretch>
          </a:blipFill>
        </p:spPr>
        <p:txBody>
          <a:bodyPr/>
          <a:lstStyle/>
          <a:p>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57200"/>
            <a:ext cx="18288000" cy="9372600"/>
          </a:xfrm>
          <a:custGeom>
            <a:avLst/>
            <a:gdLst/>
            <a:ahLst/>
            <a:cxnLst/>
            <a:rect l="l" t="t" r="r" b="b"/>
            <a:pathLst>
              <a:path w="18288000" h="9372600">
                <a:moveTo>
                  <a:pt x="0" y="0"/>
                </a:moveTo>
                <a:lnTo>
                  <a:pt x="18288000" y="0"/>
                </a:lnTo>
                <a:lnTo>
                  <a:pt x="18288000" y="9372600"/>
                </a:lnTo>
                <a:lnTo>
                  <a:pt x="0" y="93726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95300"/>
            <a:ext cx="18288000" cy="9387206"/>
          </a:xfrm>
          <a:custGeom>
            <a:avLst/>
            <a:gdLst/>
            <a:ahLst/>
            <a:cxnLst/>
            <a:rect l="l" t="t" r="r" b="b"/>
            <a:pathLst>
              <a:path w="18288000" h="9387206">
                <a:moveTo>
                  <a:pt x="0" y="0"/>
                </a:moveTo>
                <a:lnTo>
                  <a:pt x="18288000" y="0"/>
                </a:lnTo>
                <a:lnTo>
                  <a:pt x="18288000" y="9387206"/>
                </a:lnTo>
                <a:lnTo>
                  <a:pt x="0" y="9387206"/>
                </a:lnTo>
                <a:lnTo>
                  <a:pt x="0" y="0"/>
                </a:lnTo>
                <a:close/>
              </a:path>
            </a:pathLst>
          </a:custGeom>
          <a:blipFill>
            <a:blip r:embed="rId2"/>
            <a:stretch>
              <a:fillRect t="-574"/>
            </a:stretch>
          </a:blipFill>
        </p:spPr>
        <p:txBody>
          <a:bodyPr/>
          <a:lstStyle/>
          <a:p>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85641"/>
            <a:ext cx="18288000" cy="9401359"/>
          </a:xfrm>
          <a:custGeom>
            <a:avLst/>
            <a:gdLst/>
            <a:ahLst/>
            <a:cxnLst/>
            <a:rect l="l" t="t" r="r" b="b"/>
            <a:pathLst>
              <a:path w="18288000" h="9401359">
                <a:moveTo>
                  <a:pt x="0" y="0"/>
                </a:moveTo>
                <a:lnTo>
                  <a:pt x="18288000" y="0"/>
                </a:lnTo>
                <a:lnTo>
                  <a:pt x="18288000" y="9401359"/>
                </a:lnTo>
                <a:lnTo>
                  <a:pt x="0" y="9401359"/>
                </a:lnTo>
                <a:lnTo>
                  <a:pt x="0" y="0"/>
                </a:lnTo>
                <a:close/>
              </a:path>
            </a:pathLst>
          </a:custGeom>
          <a:blipFill>
            <a:blip r:embed="rId2"/>
            <a:stretch>
              <a:fillRect t="-666"/>
            </a:stretch>
          </a:blipFill>
        </p:spPr>
        <p:txBody>
          <a:bodyPr/>
          <a:lstStyle/>
          <a:p>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821" y="0"/>
            <a:ext cx="18369643" cy="10287000"/>
          </a:xfrm>
          <a:custGeom>
            <a:avLst/>
            <a:gdLst/>
            <a:ahLst/>
            <a:cxnLst/>
            <a:rect l="l" t="t" r="r" b="b"/>
            <a:pathLst>
              <a:path w="18369643" h="10287000">
                <a:moveTo>
                  <a:pt x="0" y="0"/>
                </a:moveTo>
                <a:lnTo>
                  <a:pt x="18369642" y="0"/>
                </a:lnTo>
                <a:lnTo>
                  <a:pt x="18369642" y="10287000"/>
                </a:lnTo>
                <a:lnTo>
                  <a:pt x="0" y="102870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9878261" cy="10287000"/>
          </a:xfrm>
          <a:custGeom>
            <a:avLst/>
            <a:gdLst/>
            <a:ahLst/>
            <a:cxnLst/>
            <a:rect l="l" t="t" r="r" b="b"/>
            <a:pathLst>
              <a:path w="19878261" h="10287000">
                <a:moveTo>
                  <a:pt x="0" y="0"/>
                </a:moveTo>
                <a:lnTo>
                  <a:pt x="19878261" y="0"/>
                </a:lnTo>
                <a:lnTo>
                  <a:pt x="19878261" y="10287000"/>
                </a:lnTo>
                <a:lnTo>
                  <a:pt x="0" y="102870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170588" cy="10287000"/>
          </a:xfrm>
          <a:custGeom>
            <a:avLst/>
            <a:gdLst/>
            <a:ahLst/>
            <a:cxnLst/>
            <a:rect l="l" t="t" r="r" b="b"/>
            <a:pathLst>
              <a:path w="20170588" h="10287000">
                <a:moveTo>
                  <a:pt x="0" y="0"/>
                </a:moveTo>
                <a:lnTo>
                  <a:pt x="20170588" y="0"/>
                </a:lnTo>
                <a:lnTo>
                  <a:pt x="20170588" y="10287000"/>
                </a:lnTo>
                <a:lnTo>
                  <a:pt x="0" y="102870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9242464"/>
          </a:xfrm>
          <a:custGeom>
            <a:avLst/>
            <a:gdLst/>
            <a:ahLst/>
            <a:cxnLst/>
            <a:rect l="l" t="t" r="r" b="b"/>
            <a:pathLst>
              <a:path w="18288000" h="9242464">
                <a:moveTo>
                  <a:pt x="0" y="0"/>
                </a:moveTo>
                <a:lnTo>
                  <a:pt x="18288000" y="0"/>
                </a:lnTo>
                <a:lnTo>
                  <a:pt x="18288000" y="9242464"/>
                </a:lnTo>
                <a:lnTo>
                  <a:pt x="0" y="9242464"/>
                </a:lnTo>
                <a:lnTo>
                  <a:pt x="0" y="0"/>
                </a:lnTo>
                <a:close/>
              </a:path>
            </a:pathLst>
          </a:custGeom>
          <a:blipFill>
            <a:blip r:embed="rId2"/>
            <a:stretch>
              <a:fillRect b="-2150"/>
            </a:stretch>
          </a:blipFill>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Words>
  <Application>Microsoft Office PowerPoint</Application>
  <PresentationFormat>Custom</PresentationFormat>
  <Paragraphs>8</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Canva Sans</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Dimensionality reduction techniques are used to reduce the number of features while retaining as much important information as possible. This helps simplify the model, improve computational efficiency, and reduce overfitting by removing redundant or less</dc:title>
  <dc:creator>Mahmoud Nweija</dc:creator>
  <cp:lastModifiedBy>Mahmoud Ebraheem</cp:lastModifiedBy>
  <cp:revision>3</cp:revision>
  <dcterms:created xsi:type="dcterms:W3CDTF">2006-08-16T00:00:00Z</dcterms:created>
  <dcterms:modified xsi:type="dcterms:W3CDTF">2026-02-17T07:44:51Z</dcterms:modified>
  <dc:identifier>DAHA3XDbQs8</dc:identifier>
</cp:coreProperties>
</file>