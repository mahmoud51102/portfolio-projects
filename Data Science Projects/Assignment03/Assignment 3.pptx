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6858000" cy="9144000"/>
  <p:embeddedFontLst>
    <p:embeddedFont>
      <p:font typeface="Raleway"/>
      <p:regular r:id="rId31"/>
      <p:bold r:id="rId32"/>
      <p:italic r:id="rId33"/>
      <p:boldItalic r:id="rId34"/>
    </p:embeddedFont>
    <p:embeddedFont>
      <p:font typeface="Anaheim"/>
      <p:regular r:id="rId35"/>
      <p:bold r:id="rId36"/>
    </p:embeddedFont>
    <p:embeddedFont>
      <p:font typeface="Cairo"/>
      <p:regular r:id="rId37"/>
      <p:bold r:id="rId38"/>
    </p:embeddedFont>
    <p:embeddedFont>
      <p:font typeface="Actor"/>
      <p:regular r:id="rId39"/>
    </p:embeddedFont>
    <p:embeddedFont>
      <p:font typeface="Space Grotesk Medium"/>
      <p:regular r:id="rId40"/>
      <p:bold r:id="rId41"/>
    </p:embeddedFont>
    <p:embeddedFont>
      <p:font typeface="PT Sans"/>
      <p:regular r:id="rId42"/>
      <p:bold r:id="rId43"/>
      <p:italic r:id="rId44"/>
      <p:boldItalic r:id="rId45"/>
    </p:embeddedFont>
    <p:embeddedFont>
      <p:font typeface="Space Grotesk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Medium-regular.fntdata"/><Relationship Id="rId20" Type="http://schemas.openxmlformats.org/officeDocument/2006/relationships/slide" Target="slides/slide16.xml"/><Relationship Id="rId42" Type="http://schemas.openxmlformats.org/officeDocument/2006/relationships/font" Target="fonts/PTSans-regular.fntdata"/><Relationship Id="rId41" Type="http://schemas.openxmlformats.org/officeDocument/2006/relationships/font" Target="fonts/SpaceGroteskMedium-bold.fntdata"/><Relationship Id="rId22" Type="http://schemas.openxmlformats.org/officeDocument/2006/relationships/slide" Target="slides/slide18.xml"/><Relationship Id="rId44" Type="http://schemas.openxmlformats.org/officeDocument/2006/relationships/font" Target="fonts/PTSans-italic.fntdata"/><Relationship Id="rId21" Type="http://schemas.openxmlformats.org/officeDocument/2006/relationships/slide" Target="slides/slide17.xml"/><Relationship Id="rId43" Type="http://schemas.openxmlformats.org/officeDocument/2006/relationships/font" Target="fonts/PTSans-bold.fntdata"/><Relationship Id="rId24" Type="http://schemas.openxmlformats.org/officeDocument/2006/relationships/slide" Target="slides/slide20.xml"/><Relationship Id="rId46" Type="http://schemas.openxmlformats.org/officeDocument/2006/relationships/font" Target="fonts/SpaceGrotesk-regular.fntdata"/><Relationship Id="rId23" Type="http://schemas.openxmlformats.org/officeDocument/2006/relationships/slide" Target="slides/slide19.xml"/><Relationship Id="rId45" Type="http://schemas.openxmlformats.org/officeDocument/2006/relationships/font" Target="fonts/PT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SpaceGrotesk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aleway-italic.fntdata"/><Relationship Id="rId10" Type="http://schemas.openxmlformats.org/officeDocument/2006/relationships/slide" Target="slides/slide6.xml"/><Relationship Id="rId32" Type="http://schemas.openxmlformats.org/officeDocument/2006/relationships/font" Target="fonts/Raleway-bold.fntdata"/><Relationship Id="rId13" Type="http://schemas.openxmlformats.org/officeDocument/2006/relationships/slide" Target="slides/slide9.xml"/><Relationship Id="rId35" Type="http://schemas.openxmlformats.org/officeDocument/2006/relationships/font" Target="fonts/Anaheim-regular.fntdata"/><Relationship Id="rId12" Type="http://schemas.openxmlformats.org/officeDocument/2006/relationships/slide" Target="slides/slide8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11.xml"/><Relationship Id="rId37" Type="http://schemas.openxmlformats.org/officeDocument/2006/relationships/font" Target="fonts/Cairo-regular.fntdata"/><Relationship Id="rId14" Type="http://schemas.openxmlformats.org/officeDocument/2006/relationships/slide" Target="slides/slide10.xml"/><Relationship Id="rId36" Type="http://schemas.openxmlformats.org/officeDocument/2006/relationships/font" Target="fonts/Anaheim-bold.fntdata"/><Relationship Id="rId17" Type="http://schemas.openxmlformats.org/officeDocument/2006/relationships/slide" Target="slides/slide13.xml"/><Relationship Id="rId39" Type="http://schemas.openxmlformats.org/officeDocument/2006/relationships/font" Target="fonts/Actor-regular.fntdata"/><Relationship Id="rId16" Type="http://schemas.openxmlformats.org/officeDocument/2006/relationships/slide" Target="slides/slide12.xml"/><Relationship Id="rId38" Type="http://schemas.openxmlformats.org/officeDocument/2006/relationships/font" Target="fonts/Cair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fc80ae9e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fc80ae9e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2aaf7565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2aaf7565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fc80ae9e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bfc80ae9e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simulated data where we know the truth, allowing us to check if models recover the real signal.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simulated data with ten predictors, but only a few have strong true effects.</a:t>
            </a:r>
            <a:br>
              <a:rPr lang="en"/>
            </a:br>
            <a:r>
              <a:rPr lang="en"/>
              <a:t>3This plot shows the true coefficients used to generate the data.</a:t>
            </a:r>
            <a:br>
              <a:rPr lang="en"/>
            </a:br>
            <a:r>
              <a:rPr lang="en"/>
              <a:t> Most variables have coefficients close to zero, representing irrelevant predictors, while a small subset has large effects.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"Using ordinary least squares, we estimated the regression coefficients.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 predictors appear statistically significant, and they mostly correspond to the true strong variables.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However, some noise variables also show non-zero coefficients due to randomness."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fc80ae9e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fc80ae9e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simulated data where we know the truth, allowing us to check if models recover the real signal.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simulated data with ten predictors, but only a few have strong true effects.</a:t>
            </a:r>
            <a:br>
              <a:rPr lang="en"/>
            </a:br>
            <a:r>
              <a:rPr lang="en"/>
              <a:t>3This plot shows the true coefficients used to generate the data.</a:t>
            </a:r>
            <a:br>
              <a:rPr lang="en"/>
            </a:br>
            <a:r>
              <a:rPr lang="en"/>
              <a:t> Most variables have coefficients close to zero, representing irrelevant predictors, while a small subset has large effects.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fc80ae9e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bfc80ae9e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Residuals vs predicted values plot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The dots are randomly scattered around the red zero line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There is no clear pattern (no curve, no wave, no funnel shape)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Residuals are spread both above and below zero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The model is behaving well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Relationship looks linear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No obvious heteroscedasticity</a:t>
            </a:r>
            <a:endParaRPr sz="12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</a:rPr>
              <a:t>Leverage values plot</a:t>
            </a:r>
            <a:endParaRPr b="1"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Observation Index (X-axis): This represents each individual row or data point in your dataset (from 0 to roughly 300).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Leverage (Y-axis): This value (often denoted as hii) ranges from 1/n to 1. Higher values indicate the point is an outlier in the predictor space.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Red Dashed Line (Threshold): This is a critical diagnostic boundary. A common rule of thumb for this threshold is 3p/n or 2p/n (where p is the number of predictors and n is the sample size).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About 8 points have high leverage, meaning they have a stronger-than-average impact on the model's "slope."</a:t>
            </a:r>
            <a:endParaRPr sz="1200">
              <a:solidFill>
                <a:srgbClr val="1F1F1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fc80ae9e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bfc80ae9e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Influential points plot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Most observations have very low Cook’s Distance values, indicating that they have minimal influence on the regression model.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The model appears stable, as no single observation dominates the regression results.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A few observations show relatively higher Cook’s Distance values, suggesting the presence of potentially influential points.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These influential points may slightly affect model parameters, but they do not critically distort the overall model.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No Cook’s Distance values exceed critical thresholds (e.g., 𝐷&gt;1), indicating the absence of highly influential outliers.</a:t>
            </a:r>
            <a:endParaRPr sz="1200">
              <a:solidFill>
                <a:srgbClr val="1F1F1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Overall, the regression model is robust and not overly sensitive to individual data points.</a:t>
            </a:r>
            <a:endParaRPr sz="1200">
              <a:solidFill>
                <a:srgbClr val="1F1F1F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Outlier detection plot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</a:rPr>
              <a:t>Almost all points fall within the red dashed lines at -3 and 3.</a:t>
            </a:r>
            <a:endParaRPr sz="1200">
              <a:solidFill>
                <a:srgbClr val="1F1F1F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fc80ae9e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fc80ae9e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2aaf75650_1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c2aaf75650_1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fc80ae9e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fc80ae9e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fc80ae9e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bfc80ae9e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fc80ae9e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fc80ae9e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fc80ae9e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fc80ae9e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c80ae9e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fc80ae9e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bfc80ae9e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bfc80ae9e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bfc80ae9e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bfc80ae9e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2aaf75650_1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c2aaf75650_1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fc80ae9ef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bfc80ae9ef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bfc80ae9e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bfc80ae9e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fc80ae9e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bfc80ae9e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51b1a71d3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51b1a71d3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2aaf75650_1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c2aaf75650_1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fc80ae9e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bfc80ae9e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8" name="Google Shape;1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2" name="Google Shape;22;p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3" name="Google Shape;23;p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1" name="Google Shape;31;p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32" name="Google Shape;32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" name="Google Shape;34;p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5" name="Google Shape;35;p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9" name="Google Shape;39;p6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" name="Google Shape;42;p6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43" name="Google Shape;43;p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48" name="Google Shape;48;p7"/>
          <p:cNvSpPr/>
          <p:nvPr>
            <p:ph idx="2" type="pic"/>
          </p:nvPr>
        </p:nvSpPr>
        <p:spPr>
          <a:xfrm>
            <a:off x="5088475" y="770400"/>
            <a:ext cx="3081600" cy="360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9" name="Google Shape;49;p7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0" name="Google Shape;50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" name="Google Shape;52;p7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3" name="Google Shape;53;p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8"/>
          <p:cNvSpPr txBox="1"/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/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" type="subTitle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/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hasCustomPrompt="1" type="title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7" name="Google Shape;87;p11"/>
          <p:cNvSpPr txBox="1"/>
          <p:nvPr>
            <p:ph idx="1" type="subTitle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hasCustomPrompt="1"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/>
          <p:nvPr>
            <p:ph hasCustomPrompt="1"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/>
          <p:nvPr>
            <p:ph hasCustomPrompt="1"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hasCustomPrompt="1"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/>
          <p:nvPr>
            <p:ph hasCustomPrompt="1"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/>
          <p:nvPr>
            <p:ph hasCustomPrompt="1"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3" type="subTitle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14" type="subTitle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04" name="Google Shape;104;p13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05" name="Google Shape;105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3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08" name="Google Shape;108;p1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12" name="Google Shape;112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" name="Google Shape;114;p1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15" name="Google Shape;115;p1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1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20" name="Google Shape;120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5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23" name="Google Shape;123;p1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5"/>
          <p:cNvSpPr txBox="1"/>
          <p:nvPr>
            <p:ph type="title"/>
          </p:nvPr>
        </p:nvSpPr>
        <p:spPr>
          <a:xfrm>
            <a:off x="3889175" y="1000050"/>
            <a:ext cx="3205500" cy="1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889175" y="2131950"/>
            <a:ext cx="4185300" cy="20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6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29" name="Google Shape;129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16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32" name="Google Shape;132;p1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6"/>
          <p:cNvSpPr txBox="1"/>
          <p:nvPr>
            <p:ph type="title"/>
          </p:nvPr>
        </p:nvSpPr>
        <p:spPr>
          <a:xfrm>
            <a:off x="713225" y="707075"/>
            <a:ext cx="2345400" cy="97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" type="subTitle"/>
          </p:nvPr>
        </p:nvSpPr>
        <p:spPr>
          <a:xfrm>
            <a:off x="713225" y="1606775"/>
            <a:ext cx="2345400" cy="11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6" name="Google Shape;136;p16"/>
          <p:cNvSpPr/>
          <p:nvPr>
            <p:ph idx="2" type="pic"/>
          </p:nvPr>
        </p:nvSpPr>
        <p:spPr>
          <a:xfrm>
            <a:off x="5588500" y="539500"/>
            <a:ext cx="2801100" cy="406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7" name="Google Shape;137;p16"/>
          <p:cNvSpPr/>
          <p:nvPr>
            <p:ph idx="3" type="pic"/>
          </p:nvPr>
        </p:nvSpPr>
        <p:spPr>
          <a:xfrm>
            <a:off x="3171450" y="539500"/>
            <a:ext cx="2304300" cy="2285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8" name="Google Shape;138;p16"/>
          <p:cNvSpPr/>
          <p:nvPr>
            <p:ph idx="4" type="pic"/>
          </p:nvPr>
        </p:nvSpPr>
        <p:spPr>
          <a:xfrm>
            <a:off x="317145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39" name="Google Shape;139;p16"/>
          <p:cNvSpPr/>
          <p:nvPr>
            <p:ph idx="5" type="pic"/>
          </p:nvPr>
        </p:nvSpPr>
        <p:spPr>
          <a:xfrm>
            <a:off x="75440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7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42" name="Google Shape;142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17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45" name="Google Shape;145;p1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1" type="subTitle"/>
          </p:nvPr>
        </p:nvSpPr>
        <p:spPr>
          <a:xfrm>
            <a:off x="719975" y="1164450"/>
            <a:ext cx="3748800" cy="11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3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51" name="Google Shape;151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18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54" name="Google Shape;154;p1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18"/>
          <p:cNvSpPr txBox="1"/>
          <p:nvPr>
            <p:ph idx="1" type="subTitle"/>
          </p:nvPr>
        </p:nvSpPr>
        <p:spPr>
          <a:xfrm>
            <a:off x="719975" y="1393800"/>
            <a:ext cx="5015400" cy="22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7" name="Google Shape;15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60" name="Google Shape;16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19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63" name="Google Shape;163;p1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2" type="subTitle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idx="3" type="subTitle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19"/>
          <p:cNvSpPr txBox="1"/>
          <p:nvPr>
            <p:ph idx="4" type="subTitle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0" name="Google Shape;170;p19"/>
          <p:cNvSpPr txBox="1"/>
          <p:nvPr>
            <p:ph idx="5" type="subTitle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6" type="subTitle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74" name="Google Shape;174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20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77" name="Google Shape;177;p2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1" type="subTitle"/>
          </p:nvPr>
        </p:nvSpPr>
        <p:spPr>
          <a:xfrm>
            <a:off x="1225674" y="1659425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20"/>
          <p:cNvSpPr txBox="1"/>
          <p:nvPr>
            <p:ph idx="2" type="subTitle"/>
          </p:nvPr>
        </p:nvSpPr>
        <p:spPr>
          <a:xfrm>
            <a:off x="5052125" y="1659425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20"/>
          <p:cNvSpPr txBox="1"/>
          <p:nvPr>
            <p:ph idx="3" type="subTitle"/>
          </p:nvPr>
        </p:nvSpPr>
        <p:spPr>
          <a:xfrm>
            <a:off x="1225674" y="3320000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20"/>
          <p:cNvSpPr txBox="1"/>
          <p:nvPr>
            <p:ph idx="4" type="subTitle"/>
          </p:nvPr>
        </p:nvSpPr>
        <p:spPr>
          <a:xfrm>
            <a:off x="5052125" y="3320000"/>
            <a:ext cx="32187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5" type="subTitle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5" name="Google Shape;185;p20"/>
          <p:cNvSpPr txBox="1"/>
          <p:nvPr>
            <p:ph idx="6" type="subTitle"/>
          </p:nvPr>
        </p:nvSpPr>
        <p:spPr>
          <a:xfrm>
            <a:off x="1225675" y="29922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6" name="Google Shape;186;p20"/>
          <p:cNvSpPr txBox="1"/>
          <p:nvPr>
            <p:ph idx="7" type="subTitle"/>
          </p:nvPr>
        </p:nvSpPr>
        <p:spPr>
          <a:xfrm>
            <a:off x="5052099" y="13316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7" name="Google Shape;187;p20"/>
          <p:cNvSpPr txBox="1"/>
          <p:nvPr>
            <p:ph idx="8" type="subTitle"/>
          </p:nvPr>
        </p:nvSpPr>
        <p:spPr>
          <a:xfrm>
            <a:off x="5052099" y="2992275"/>
            <a:ext cx="3218700" cy="41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90" name="Google Shape;190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21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93" name="Google Shape;193;p2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6" name="Google Shape;196;p21"/>
          <p:cNvSpPr txBox="1"/>
          <p:nvPr>
            <p:ph idx="1" type="subTitle"/>
          </p:nvPr>
        </p:nvSpPr>
        <p:spPr>
          <a:xfrm>
            <a:off x="1162025" y="1656927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7" name="Google Shape;197;p21"/>
          <p:cNvSpPr txBox="1"/>
          <p:nvPr>
            <p:ph idx="2" type="subTitle"/>
          </p:nvPr>
        </p:nvSpPr>
        <p:spPr>
          <a:xfrm>
            <a:off x="3782975" y="1656925"/>
            <a:ext cx="1972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" name="Google Shape;198;p21"/>
          <p:cNvSpPr txBox="1"/>
          <p:nvPr>
            <p:ph idx="3" type="subTitle"/>
          </p:nvPr>
        </p:nvSpPr>
        <p:spPr>
          <a:xfrm>
            <a:off x="116202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21"/>
          <p:cNvSpPr txBox="1"/>
          <p:nvPr>
            <p:ph idx="4" type="subTitle"/>
          </p:nvPr>
        </p:nvSpPr>
        <p:spPr>
          <a:xfrm>
            <a:off x="378297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5" type="subTitle"/>
          </p:nvPr>
        </p:nvSpPr>
        <p:spPr>
          <a:xfrm>
            <a:off x="6403925" y="1656927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6" type="subTitle"/>
          </p:nvPr>
        </p:nvSpPr>
        <p:spPr>
          <a:xfrm>
            <a:off x="6403925" y="3387221"/>
            <a:ext cx="1975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7" type="subTitle"/>
          </p:nvPr>
        </p:nvSpPr>
        <p:spPr>
          <a:xfrm>
            <a:off x="1162025" y="1359241"/>
            <a:ext cx="1975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3" name="Google Shape;203;p21"/>
          <p:cNvSpPr txBox="1"/>
          <p:nvPr>
            <p:ph idx="8" type="subTitle"/>
          </p:nvPr>
        </p:nvSpPr>
        <p:spPr>
          <a:xfrm>
            <a:off x="3782975" y="1359241"/>
            <a:ext cx="1972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9" type="subTitle"/>
          </p:nvPr>
        </p:nvSpPr>
        <p:spPr>
          <a:xfrm>
            <a:off x="6403925" y="1359241"/>
            <a:ext cx="197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5" name="Google Shape;205;p21"/>
          <p:cNvSpPr txBox="1"/>
          <p:nvPr>
            <p:ph idx="13" type="subTitle"/>
          </p:nvPr>
        </p:nvSpPr>
        <p:spPr>
          <a:xfrm>
            <a:off x="1162025" y="3086317"/>
            <a:ext cx="1975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14" type="subTitle"/>
          </p:nvPr>
        </p:nvSpPr>
        <p:spPr>
          <a:xfrm>
            <a:off x="3782975" y="3086317"/>
            <a:ext cx="1972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15" type="subTitle"/>
          </p:nvPr>
        </p:nvSpPr>
        <p:spPr>
          <a:xfrm>
            <a:off x="6403925" y="3086317"/>
            <a:ext cx="1972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hasCustomPrompt="1" type="title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22"/>
          <p:cNvSpPr txBox="1"/>
          <p:nvPr>
            <p:ph idx="1" type="subTitle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hasCustomPrompt="1" idx="2" type="title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" name="Google Shape;212;p22"/>
          <p:cNvSpPr txBox="1"/>
          <p:nvPr>
            <p:ph idx="3" type="subTitle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hasCustomPrompt="1" idx="4" type="title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4" name="Google Shape;214;p22"/>
          <p:cNvSpPr txBox="1"/>
          <p:nvPr>
            <p:ph idx="5" type="subTitle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215" name="Google Shape;21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>
            <p:ph type="title"/>
          </p:nvPr>
        </p:nvSpPr>
        <p:spPr>
          <a:xfrm>
            <a:off x="713225" y="747263"/>
            <a:ext cx="3281700" cy="9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713225" y="1584449"/>
            <a:ext cx="3281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219" name="Google Shape;21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713225" y="3410538"/>
            <a:ext cx="32787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b="1" sz="1000" u="sng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7168275" y="2994751"/>
            <a:ext cx="1975726" cy="214874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 txBox="1"/>
          <p:nvPr>
            <p:ph type="ctrTitle"/>
          </p:nvPr>
        </p:nvSpPr>
        <p:spPr>
          <a:xfrm>
            <a:off x="713225" y="1753763"/>
            <a:ext cx="7368600" cy="16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Regression and Data Simulation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5" name="Google Shape;245;p26"/>
          <p:cNvSpPr txBox="1"/>
          <p:nvPr>
            <p:ph idx="1" type="subTitle"/>
          </p:nvPr>
        </p:nvSpPr>
        <p:spPr>
          <a:xfrm>
            <a:off x="1077650" y="3695200"/>
            <a:ext cx="2540400" cy="1236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Prepared by :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Shurouq Abuewaili                                      Mona AlRo</a:t>
            </a:r>
            <a:r>
              <a:rPr lang="en"/>
              <a:t>zzi                                  </a:t>
            </a:r>
            <a:r>
              <a:rPr lang="en"/>
              <a:t>Mahmoud Nweija</a:t>
            </a:r>
            <a:endParaRPr/>
          </a:p>
        </p:txBody>
      </p:sp>
      <p:pic>
        <p:nvPicPr>
          <p:cNvPr id="246" name="Google Shape;2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725" y="374075"/>
            <a:ext cx="2886250" cy="123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6"/>
          <p:cNvSpPr txBox="1"/>
          <p:nvPr/>
        </p:nvSpPr>
        <p:spPr>
          <a:xfrm>
            <a:off x="4982550" y="374075"/>
            <a:ext cx="3457200" cy="100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2C58"/>
                </a:solidFill>
                <a:latin typeface="Actor"/>
                <a:ea typeface="Actor"/>
                <a:cs typeface="Actor"/>
                <a:sym typeface="Actor"/>
              </a:rPr>
              <a:t>Statistical Learning &amp; Data Analysis</a:t>
            </a:r>
            <a:endParaRPr b="1" sz="1000">
              <a:solidFill>
                <a:srgbClr val="132C58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2C58"/>
                </a:solidFill>
                <a:latin typeface="Actor"/>
                <a:ea typeface="Actor"/>
                <a:cs typeface="Actor"/>
                <a:sym typeface="Actor"/>
              </a:rPr>
              <a:t>Master in Data Science</a:t>
            </a:r>
            <a:endParaRPr b="1" sz="1000">
              <a:solidFill>
                <a:srgbClr val="132C58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32C58"/>
                </a:solidFill>
                <a:latin typeface="Actor"/>
                <a:ea typeface="Actor"/>
                <a:cs typeface="Actor"/>
                <a:sym typeface="Actor"/>
              </a:rPr>
              <a:t>Department of Engineering</a:t>
            </a:r>
            <a:endParaRPr b="1" sz="1000">
              <a:solidFill>
                <a:srgbClr val="132C58"/>
              </a:solidFill>
              <a:latin typeface="Actor"/>
              <a:ea typeface="Actor"/>
              <a:cs typeface="Actor"/>
              <a:sym typeface="Actor"/>
            </a:endParaRPr>
          </a:p>
          <a:p>
            <a:pPr indent="0" lvl="0" marL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32C58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5297925" y="3667300"/>
            <a:ext cx="26424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Supervised by : </a:t>
            </a:r>
            <a:endParaRPr b="1" sz="1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Prof.Roberta Siciliano </a:t>
            </a:r>
            <a:endParaRPr sz="16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Prof.Emiliano Del Gobbo</a:t>
            </a:r>
            <a:endParaRPr>
              <a:solidFill>
                <a:srgbClr val="241160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r>
              <a:rPr b="1" lang="en"/>
              <a:t>able of contents</a:t>
            </a:r>
            <a:endParaRPr b="1"/>
          </a:p>
        </p:txBody>
      </p:sp>
      <p:sp>
        <p:nvSpPr>
          <p:cNvPr id="254" name="Google Shape;254;p27"/>
          <p:cNvSpPr txBox="1"/>
          <p:nvPr>
            <p:ph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55" name="Google Shape;255;p27"/>
          <p:cNvSpPr txBox="1"/>
          <p:nvPr>
            <p:ph idx="4" type="title"/>
          </p:nvPr>
        </p:nvSpPr>
        <p:spPr>
          <a:xfrm>
            <a:off x="720000" y="2990508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56" name="Google Shape;256;p27"/>
          <p:cNvSpPr txBox="1"/>
          <p:nvPr>
            <p:ph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57" name="Google Shape;257;p27"/>
          <p:cNvSpPr txBox="1"/>
          <p:nvPr>
            <p:ph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58" name="Google Shape;258;p27"/>
          <p:cNvSpPr txBox="1"/>
          <p:nvPr>
            <p:ph idx="1" type="subTitle"/>
          </p:nvPr>
        </p:nvSpPr>
        <p:spPr>
          <a:xfrm>
            <a:off x="720000" y="2026450"/>
            <a:ext cx="3352200" cy="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DATASET SIMULATION AND LINEAR REGRESSION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"/>
          <p:cNvSpPr txBox="1"/>
          <p:nvPr>
            <p:ph idx="8" type="subTitle"/>
          </p:nvPr>
        </p:nvSpPr>
        <p:spPr>
          <a:xfrm>
            <a:off x="720000" y="3537975"/>
            <a:ext cx="3352200" cy="7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SHRINKAGE AND REGULARIZATION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0" name="Google Shape;260;p27"/>
          <p:cNvSpPr txBox="1"/>
          <p:nvPr>
            <p:ph idx="9" type="subTitle"/>
          </p:nvPr>
        </p:nvSpPr>
        <p:spPr>
          <a:xfrm>
            <a:off x="5892000" y="2029900"/>
            <a:ext cx="3004500" cy="7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NON-LINEAR REGRESSION AND BIAS-VARIANCE EXPERIMENT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61" name="Google Shape;261;p27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Conclusion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811975" y="437875"/>
            <a:ext cx="5404200" cy="9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Goals of the Assignment</a:t>
            </a:r>
            <a:endParaRPr b="1"/>
          </a:p>
        </p:txBody>
      </p:sp>
      <p:sp>
        <p:nvSpPr>
          <p:cNvPr id="267" name="Google Shape;267;p28"/>
          <p:cNvSpPr txBox="1"/>
          <p:nvPr>
            <p:ph idx="1" type="subTitle"/>
          </p:nvPr>
        </p:nvSpPr>
        <p:spPr>
          <a:xfrm>
            <a:off x="811975" y="1878550"/>
            <a:ext cx="70257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Simulate data with known structure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linear, regularized, and non-linear models</a:t>
            </a:r>
            <a:endParaRPr sz="1800"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Understand model stability and bias–variance trade-off.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9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DATASET SIMULATION AND LINEAR REGRESSION</a:t>
            </a:r>
            <a:endParaRPr sz="3500"/>
          </a:p>
        </p:txBody>
      </p:sp>
      <p:sp>
        <p:nvSpPr>
          <p:cNvPr id="274" name="Google Shape;274;p29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76" name="Google Shape;276;p2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Simulation</a:t>
            </a:r>
            <a:endParaRPr b="1"/>
          </a:p>
        </p:txBody>
      </p:sp>
      <p:sp>
        <p:nvSpPr>
          <p:cNvPr id="283" name="Google Shape;283;p30"/>
          <p:cNvSpPr/>
          <p:nvPr/>
        </p:nvSpPr>
        <p:spPr>
          <a:xfrm>
            <a:off x="7315350" y="3421025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0"/>
          <p:cNvSpPr txBox="1"/>
          <p:nvPr/>
        </p:nvSpPr>
        <p:spPr>
          <a:xfrm flipH="1">
            <a:off x="6300900" y="3491300"/>
            <a:ext cx="20088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Non-linear function</a:t>
            </a:r>
            <a:endParaRPr b="1"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to analyze more complex patterns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285" name="Google Shape;285;p30"/>
          <p:cNvCxnSpPr/>
          <p:nvPr/>
        </p:nvCxnSpPr>
        <p:spPr>
          <a:xfrm>
            <a:off x="1809175" y="3123750"/>
            <a:ext cx="5592900" cy="1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30"/>
          <p:cNvSpPr txBox="1"/>
          <p:nvPr/>
        </p:nvSpPr>
        <p:spPr>
          <a:xfrm>
            <a:off x="720000" y="1153200"/>
            <a:ext cx="7011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There are many methods for generating synthetic data depending on the modeling goal.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87" name="Google Shape;287;p30"/>
          <p:cNvSpPr txBox="1"/>
          <p:nvPr/>
        </p:nvSpPr>
        <p:spPr>
          <a:xfrm flipH="1">
            <a:off x="3665850" y="2140675"/>
            <a:ext cx="18123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Data can be Generated by</a:t>
            </a:r>
            <a:endParaRPr b="1"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288" name="Google Shape;288;p30"/>
          <p:cNvCxnSpPr/>
          <p:nvPr/>
        </p:nvCxnSpPr>
        <p:spPr>
          <a:xfrm>
            <a:off x="4572000" y="2906425"/>
            <a:ext cx="1200" cy="21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0"/>
          <p:cNvCxnSpPr>
            <a:endCxn id="283" idx="0"/>
          </p:cNvCxnSpPr>
          <p:nvPr/>
        </p:nvCxnSpPr>
        <p:spPr>
          <a:xfrm flipH="1">
            <a:off x="7403550" y="3127325"/>
            <a:ext cx="4200" cy="29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0"/>
          <p:cNvSpPr/>
          <p:nvPr/>
        </p:nvSpPr>
        <p:spPr>
          <a:xfrm>
            <a:off x="1712600" y="3408750"/>
            <a:ext cx="176400" cy="17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"/>
          <p:cNvSpPr txBox="1"/>
          <p:nvPr/>
        </p:nvSpPr>
        <p:spPr>
          <a:xfrm flipH="1">
            <a:off x="894650" y="3479025"/>
            <a:ext cx="18123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Linear Function</a:t>
            </a:r>
            <a:endParaRPr b="1"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to study linear relationships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292" name="Google Shape;292;p30"/>
          <p:cNvCxnSpPr>
            <a:endCxn id="290" idx="0"/>
          </p:cNvCxnSpPr>
          <p:nvPr/>
        </p:nvCxnSpPr>
        <p:spPr>
          <a:xfrm flipH="1">
            <a:off x="1800800" y="3115050"/>
            <a:ext cx="4200" cy="29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 txBox="1"/>
          <p:nvPr>
            <p:ph type="title"/>
          </p:nvPr>
        </p:nvSpPr>
        <p:spPr>
          <a:xfrm>
            <a:off x="720000" y="4563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Simulation (Linear Case)</a:t>
            </a:r>
            <a:endParaRPr b="1"/>
          </a:p>
        </p:txBody>
      </p:sp>
      <p:sp>
        <p:nvSpPr>
          <p:cNvPr id="298" name="Google Shape;298;p31"/>
          <p:cNvSpPr txBox="1"/>
          <p:nvPr>
            <p:ph idx="4294967295" type="title"/>
          </p:nvPr>
        </p:nvSpPr>
        <p:spPr>
          <a:xfrm>
            <a:off x="5879425" y="1500575"/>
            <a:ext cx="2910900" cy="27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n=300,  p=10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Few strong predictors, others weak or null.</a:t>
            </a:r>
            <a:br>
              <a:rPr lang="en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Added Gaussian noise.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Generate target using a linear model: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y=Xβ+ε</a:t>
            </a:r>
            <a:endParaRPr sz="1600"/>
          </a:p>
        </p:txBody>
      </p:sp>
      <p:pic>
        <p:nvPicPr>
          <p:cNvPr id="299" name="Google Shape;2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124" y="1500575"/>
            <a:ext cx="4774201" cy="33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/>
          <p:nvPr>
            <p:ph type="title"/>
          </p:nvPr>
        </p:nvSpPr>
        <p:spPr>
          <a:xfrm>
            <a:off x="743950" y="469450"/>
            <a:ext cx="5370300" cy="5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Linear Regression Results</a:t>
            </a:r>
            <a:endParaRPr b="1"/>
          </a:p>
        </p:txBody>
      </p:sp>
      <p:sp>
        <p:nvSpPr>
          <p:cNvPr id="305" name="Google Shape;305;p32"/>
          <p:cNvSpPr txBox="1"/>
          <p:nvPr>
            <p:ph idx="1" type="subTitle"/>
          </p:nvPr>
        </p:nvSpPr>
        <p:spPr>
          <a:xfrm>
            <a:off x="743950" y="1399275"/>
            <a:ext cx="3948000" cy="32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Ordinary Least Squares regression successfully identifies the predictors with strong </a:t>
            </a:r>
            <a:r>
              <a:rPr b="1" lang="en" sz="1800"/>
              <a:t>true </a:t>
            </a:r>
            <a:r>
              <a:rPr lang="en" sz="1800"/>
              <a:t>effects. However, several predictors with no real influence still receive non-zero estimated coefficients, showing the sensitivity of linear regression to noise and irrelevant variables.</a:t>
            </a:r>
            <a:endParaRPr sz="1800"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306" name="Google Shape;3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1875" y="1399274"/>
            <a:ext cx="4033925" cy="32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/>
          <p:nvPr>
            <p:ph type="title"/>
          </p:nvPr>
        </p:nvSpPr>
        <p:spPr>
          <a:xfrm>
            <a:off x="720000" y="4563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Regression Diagnostics</a:t>
            </a:r>
            <a:endParaRPr b="1"/>
          </a:p>
        </p:txBody>
      </p:sp>
      <p:sp>
        <p:nvSpPr>
          <p:cNvPr id="312" name="Google Shape;312;p33"/>
          <p:cNvSpPr txBox="1"/>
          <p:nvPr>
            <p:ph idx="4294967295" type="title"/>
          </p:nvPr>
        </p:nvSpPr>
        <p:spPr>
          <a:xfrm>
            <a:off x="720000" y="1576775"/>
            <a:ext cx="7625700" cy="27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Regression diagnostics were used to assess the validity and stability of the linear model. </a:t>
            </a:r>
            <a:r>
              <a:rPr b="1" lang="en" sz="1600"/>
              <a:t>Residual analysis</a:t>
            </a:r>
            <a:r>
              <a:rPr lang="en" sz="1600"/>
              <a:t> and </a:t>
            </a:r>
            <a:r>
              <a:rPr b="1" lang="en" sz="1600"/>
              <a:t>influence measures</a:t>
            </a:r>
            <a:r>
              <a:rPr lang="en" sz="1600"/>
              <a:t> reveal the presence of observations that may strongly affect coefficient estimates, highlighting that statistical significance alone is not sufficient to guarantee model reliability.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"/>
          <p:cNvSpPr txBox="1"/>
          <p:nvPr>
            <p:ph type="title"/>
          </p:nvPr>
        </p:nvSpPr>
        <p:spPr>
          <a:xfrm>
            <a:off x="720000" y="4563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Regression Diagnostics</a:t>
            </a:r>
            <a:endParaRPr b="1"/>
          </a:p>
        </p:txBody>
      </p:sp>
      <p:pic>
        <p:nvPicPr>
          <p:cNvPr id="318" name="Google Shape;3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075" y="1503094"/>
            <a:ext cx="3878925" cy="3064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1503100"/>
            <a:ext cx="3878926" cy="306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/>
          <p:nvPr>
            <p:ph type="title"/>
          </p:nvPr>
        </p:nvSpPr>
        <p:spPr>
          <a:xfrm>
            <a:off x="720000" y="4563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Regression Diagnostics</a:t>
            </a:r>
            <a:endParaRPr b="1"/>
          </a:p>
        </p:txBody>
      </p:sp>
      <p:pic>
        <p:nvPicPr>
          <p:cNvPr id="325" name="Google Shape;32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175" y="1479150"/>
            <a:ext cx="3702600" cy="31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625" y="1479162"/>
            <a:ext cx="4003288" cy="31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6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SHRINKAGE AND REGULARIZATION</a:t>
            </a:r>
            <a:endParaRPr sz="3500"/>
          </a:p>
        </p:txBody>
      </p:sp>
      <p:sp>
        <p:nvSpPr>
          <p:cNvPr id="333" name="Google Shape;333;p36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334" name="Google Shape;334;p36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335" name="Google Shape;335;p3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 txBox="1"/>
          <p:nvPr>
            <p:ph type="title"/>
          </p:nvPr>
        </p:nvSpPr>
        <p:spPr>
          <a:xfrm>
            <a:off x="594775" y="455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Shrinkage and Regularization</a:t>
            </a:r>
            <a:endParaRPr b="1"/>
          </a:p>
        </p:txBody>
      </p:sp>
      <p:sp>
        <p:nvSpPr>
          <p:cNvPr id="342" name="Google Shape;342;p37"/>
          <p:cNvSpPr txBox="1"/>
          <p:nvPr/>
        </p:nvSpPr>
        <p:spPr>
          <a:xfrm>
            <a:off x="594775" y="1337725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Control model complexity and reduce overfitting.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Penalize large coefficients to improve stability and generalization.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Handle multicollinearity and improve interpretability.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Enable feature selection and balance fit vs simplicity.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Methods used:</a:t>
            </a:r>
            <a:endParaRPr b="1"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Ridge (L2): shrinks coefficients, keeps all variables.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Lasso (L1): shrinks and removes irrelevant variables.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Elastic Net (L1+L2): combines shrinkage and selection.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Cro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s-validation: selects optimal λ and α 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8"/>
          <p:cNvSpPr txBox="1"/>
          <p:nvPr>
            <p:ph type="title"/>
          </p:nvPr>
        </p:nvSpPr>
        <p:spPr>
          <a:xfrm>
            <a:off x="594775" y="455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Ridge Regression</a:t>
            </a:r>
            <a:endParaRPr b="1"/>
          </a:p>
        </p:txBody>
      </p:sp>
      <p:sp>
        <p:nvSpPr>
          <p:cNvPr id="348" name="Google Shape;348;p38"/>
          <p:cNvSpPr txBox="1"/>
          <p:nvPr/>
        </p:nvSpPr>
        <p:spPr>
          <a:xfrm>
            <a:off x="594775" y="1337725"/>
            <a:ext cx="35640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Ridge regression was applied using cross-validation to select the optimal regularization parameter. The method shrinks coefficient estimates toward zero, reducing variance and improving stability while retaining all predictors in the model.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349" name="Google Shape;34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600" y="1337725"/>
            <a:ext cx="4064401" cy="30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>
            <p:ph type="title"/>
          </p:nvPr>
        </p:nvSpPr>
        <p:spPr>
          <a:xfrm>
            <a:off x="594775" y="455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Lasso Regression</a:t>
            </a:r>
            <a:endParaRPr b="1"/>
          </a:p>
        </p:txBody>
      </p:sp>
      <p:sp>
        <p:nvSpPr>
          <p:cNvPr id="355" name="Google Shape;355;p39"/>
          <p:cNvSpPr txBox="1"/>
          <p:nvPr/>
        </p:nvSpPr>
        <p:spPr>
          <a:xfrm>
            <a:off x="594775" y="1337725"/>
            <a:ext cx="34254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Lasso regression performs automatic variable selection by shrinking some coefficients exactly to zero, successfully removing irrelevant predictors.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356" name="Google Shape;3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175" y="1337725"/>
            <a:ext cx="4403825" cy="29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"/>
          <p:cNvSpPr txBox="1"/>
          <p:nvPr>
            <p:ph type="title"/>
          </p:nvPr>
        </p:nvSpPr>
        <p:spPr>
          <a:xfrm>
            <a:off x="594775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Elastic Net Regression</a:t>
            </a:r>
            <a:endParaRPr b="1"/>
          </a:p>
        </p:txBody>
      </p:sp>
      <p:sp>
        <p:nvSpPr>
          <p:cNvPr id="362" name="Google Shape;362;p40"/>
          <p:cNvSpPr txBox="1"/>
          <p:nvPr/>
        </p:nvSpPr>
        <p:spPr>
          <a:xfrm>
            <a:off x="594775" y="1337725"/>
            <a:ext cx="32502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Elastic Net combines Lasso and Ridge penalties, achieving a balance between sparsity and coefficient stability in the presence of correlated variables.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363" name="Google Shape;36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975" y="1337725"/>
            <a:ext cx="4579026" cy="33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1"/>
          <p:cNvSpPr txBox="1"/>
          <p:nvPr>
            <p:ph type="title"/>
          </p:nvPr>
        </p:nvSpPr>
        <p:spPr>
          <a:xfrm>
            <a:off x="4047175" y="1869925"/>
            <a:ext cx="46755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3500"/>
              <a:t>NON-LINEAR REGRESSION AND BIAS-VARIANCE EXPERIMENT</a:t>
            </a:r>
            <a:endParaRPr b="1" sz="3500"/>
          </a:p>
        </p:txBody>
      </p:sp>
      <p:sp>
        <p:nvSpPr>
          <p:cNvPr id="370" name="Google Shape;370;p41"/>
          <p:cNvSpPr txBox="1"/>
          <p:nvPr>
            <p:ph idx="2" type="title"/>
          </p:nvPr>
        </p:nvSpPr>
        <p:spPr>
          <a:xfrm>
            <a:off x="4047175" y="846075"/>
            <a:ext cx="12303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371" name="Google Shape;371;p41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372" name="Google Shape;372;p4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/>
          </p:nvPr>
        </p:nvSpPr>
        <p:spPr>
          <a:xfrm>
            <a:off x="594775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Simulation </a:t>
            </a:r>
            <a:r>
              <a:rPr b="1" lang="en"/>
              <a:t>(Non-Linear Case)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79" name="Google Shape;379;p42"/>
          <p:cNvSpPr txBox="1"/>
          <p:nvPr/>
        </p:nvSpPr>
        <p:spPr>
          <a:xfrm>
            <a:off x="594775" y="1337725"/>
            <a:ext cx="36618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To study 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nonlinear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behavior, we simulated data from a non-linear generating function</a:t>
            </a: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y=sin(2πx)+ε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with a small sample size. The observed points deviate from the true function due to noise, making model estimation more challenging.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380" name="Google Shape;3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8975" y="1170125"/>
            <a:ext cx="4444801" cy="353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/>
          <p:nvPr>
            <p:ph type="title"/>
          </p:nvPr>
        </p:nvSpPr>
        <p:spPr>
          <a:xfrm>
            <a:off x="594775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Polynomial Regression</a:t>
            </a:r>
            <a:endParaRPr b="1"/>
          </a:p>
        </p:txBody>
      </p:sp>
      <p:sp>
        <p:nvSpPr>
          <p:cNvPr id="386" name="Google Shape;386;p43"/>
          <p:cNvSpPr txBox="1"/>
          <p:nvPr/>
        </p:nvSpPr>
        <p:spPr>
          <a:xfrm>
            <a:off x="594775" y="1337725"/>
            <a:ext cx="34167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 low-degree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polynomial provides a smooth approximation of the true function but underfits the data. 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In contrast, </a:t>
            </a: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 degree-10 polynomial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interpolates all observations, achieving near-zero training error but exhibiting strong overfitting and high variance.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387" name="Google Shape;38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475" y="1337725"/>
            <a:ext cx="4729874" cy="322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"/>
          <p:cNvSpPr txBox="1"/>
          <p:nvPr>
            <p:ph type="title"/>
          </p:nvPr>
        </p:nvSpPr>
        <p:spPr>
          <a:xfrm>
            <a:off x="594775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Effect of Sample Size</a:t>
            </a:r>
            <a:endParaRPr b="1"/>
          </a:p>
        </p:txBody>
      </p:sp>
      <p:sp>
        <p:nvSpPr>
          <p:cNvPr id="393" name="Google Shape;393;p44"/>
          <p:cNvSpPr txBox="1"/>
          <p:nvPr/>
        </p:nvSpPr>
        <p:spPr>
          <a:xfrm>
            <a:off x="594775" y="1337725"/>
            <a:ext cx="34818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When the same </a:t>
            </a: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high-degree polynomial 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model is fitted on a </a:t>
            </a: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larger 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dataset, the fitted curve becomes </a:t>
            </a: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smoother 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and l</a:t>
            </a: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ess extreme</a:t>
            </a: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. This shows that increasing the sample size reduces variance and mitigates overfitting in complex models.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394" name="Google Shape;39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575" y="1337725"/>
            <a:ext cx="4647449" cy="33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5"/>
          <p:cNvSpPr txBox="1"/>
          <p:nvPr>
            <p:ph type="title"/>
          </p:nvPr>
        </p:nvSpPr>
        <p:spPr>
          <a:xfrm>
            <a:off x="594775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Non-linear Models</a:t>
            </a:r>
            <a:endParaRPr b="1"/>
          </a:p>
        </p:txBody>
      </p:sp>
      <p:sp>
        <p:nvSpPr>
          <p:cNvPr id="400" name="Google Shape;400;p45"/>
          <p:cNvSpPr txBox="1"/>
          <p:nvPr/>
        </p:nvSpPr>
        <p:spPr>
          <a:xfrm>
            <a:off x="594775" y="1337725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Model complex relationships beyond linear assumptions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Capture curved and non-monotonic patterns in data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Used to study model flexibility and overfitting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Analyze the bias–variance trade-off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Compare generalization vs training performance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Methods used:</a:t>
            </a:r>
            <a:endParaRPr b="1"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Polynomial Regression.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Spline Regression.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LOESS (Local Regression)</a:t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6"/>
          <p:cNvSpPr txBox="1"/>
          <p:nvPr>
            <p:ph type="title"/>
          </p:nvPr>
        </p:nvSpPr>
        <p:spPr>
          <a:xfrm>
            <a:off x="594775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Non-linear Models Comparison</a:t>
            </a:r>
            <a:endParaRPr b="1"/>
          </a:p>
        </p:txBody>
      </p:sp>
      <p:pic>
        <p:nvPicPr>
          <p:cNvPr id="406" name="Google Shape;40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100" y="1159250"/>
            <a:ext cx="602135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7"/>
          <p:cNvSpPr txBox="1"/>
          <p:nvPr>
            <p:ph type="title"/>
          </p:nvPr>
        </p:nvSpPr>
        <p:spPr>
          <a:xfrm>
            <a:off x="594775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Non-linear Models Comparison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7"/>
          <p:cNvSpPr txBox="1"/>
          <p:nvPr/>
        </p:nvSpPr>
        <p:spPr>
          <a:xfrm>
            <a:off x="594775" y="1238100"/>
            <a:ext cx="7704000" cy="3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b="1" lang="en" sz="1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Polynomial Regression (degree 4):</a:t>
            </a:r>
            <a:r>
              <a:rPr lang="en" sz="1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Smooth and stable, closely follows the true function; reasonable train MSE; cannot capture small oscillations.</a:t>
            </a:r>
            <a:endParaRPr sz="17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Spline Regression (cubic B-spline, df=10):</a:t>
            </a:r>
            <a:r>
              <a:rPr lang="en" sz="1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Extremely flexible; overfits small datasets; unrealistic fluctuations; near-zero train MSE.</a:t>
            </a:r>
            <a:endParaRPr sz="17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LOESS (Local Regression, frac=0.25):</a:t>
            </a:r>
            <a:r>
              <a:rPr lang="en" sz="1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Smooth and accurate. In this specific plot, the purple line stays very close to the true function.</a:t>
            </a:r>
            <a:endParaRPr sz="17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Key takeaway:</a:t>
            </a:r>
            <a:endParaRPr b="1" sz="17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For small datasets or relatively smooth functions, moderate-degree polynomial regression is preferred.</a:t>
            </a:r>
            <a:endParaRPr sz="17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7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Spline and LOESS require more data or smoothing/regularization to avoid overfitting.</a:t>
            </a:r>
            <a:endParaRPr sz="17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8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Conclusion</a:t>
            </a:r>
            <a:endParaRPr b="1" sz="3500"/>
          </a:p>
        </p:txBody>
      </p:sp>
      <p:sp>
        <p:nvSpPr>
          <p:cNvPr id="419" name="Google Shape;419;p48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420" name="Google Shape;420;p48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421" name="Google Shape;421;p4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sp>
        <p:nvSpPr>
          <p:cNvPr id="428" name="Google Shape;428;p49"/>
          <p:cNvSpPr txBox="1"/>
          <p:nvPr>
            <p:ph idx="1" type="subTitle"/>
          </p:nvPr>
        </p:nvSpPr>
        <p:spPr>
          <a:xfrm>
            <a:off x="719975" y="1393800"/>
            <a:ext cx="7704000" cy="3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Data Simulation:</a:t>
            </a:r>
            <a:r>
              <a:rPr lang="en" sz="1700"/>
              <a:t> Synthetic datasets were generated using linear and non-linear functions, allowing controlled experiments to study model behavior.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Linear Regression:</a:t>
            </a:r>
            <a:r>
              <a:rPr lang="en" sz="1700"/>
              <a:t> Fitted models successfully recovered the main signal; significant predictors matched the strong coefficients in the generating function. Residual analysis identified potential outliers and high-leverage points affecting model stability.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Shrinkage and Regularization: </a:t>
            </a:r>
            <a:r>
              <a:rPr lang="en" sz="1700"/>
              <a:t>Ridge, Lasso, and Elastic Net improved model stability and controlled overfitting. Lasso enabled feature selection, while cross-validation helped find optimal regularization parameters.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sp>
        <p:nvSpPr>
          <p:cNvPr id="434" name="Google Shape;434;p50"/>
          <p:cNvSpPr txBox="1"/>
          <p:nvPr>
            <p:ph idx="1" type="subTitle"/>
          </p:nvPr>
        </p:nvSpPr>
        <p:spPr>
          <a:xfrm>
            <a:off x="720000" y="1382975"/>
            <a:ext cx="7704000" cy="3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Non-linear Regression</a:t>
            </a:r>
            <a:r>
              <a:rPr lang="en" sz="1700"/>
              <a:t>: Polynomial regression provided the most stable and realistic approximation for small datasets. Spline and LOESS models were overly flexible, leading to overfitting and unrealistic predictions.</a:t>
            </a: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Bias–Variance Trade-off:</a:t>
            </a:r>
            <a:r>
              <a:rPr lang="en" sz="1700"/>
              <a:t> Small datasets with high-degree models demonstrated high variance (overfitting), while larger datasets reduced overfitting and improved generalization.</a:t>
            </a: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Overall</a:t>
            </a:r>
            <a:r>
              <a:rPr lang="en" sz="1700"/>
              <a:t>: The assignment highlighted the importance of matching model complexity to data size and structure, choosing appropriate regularization techniques, and performing diagnostics to ensure reliable predictions.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51"/>
          <p:cNvSpPr txBox="1"/>
          <p:nvPr>
            <p:ph type="title"/>
          </p:nvPr>
        </p:nvSpPr>
        <p:spPr>
          <a:xfrm>
            <a:off x="467600" y="538775"/>
            <a:ext cx="3918300" cy="16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Thanks!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airo"/>
                <a:ea typeface="Cairo"/>
                <a:cs typeface="Cairo"/>
                <a:sym typeface="Cairo"/>
              </a:rPr>
              <a:t>Do you have any questions?</a:t>
            </a:r>
            <a:endParaRPr b="1" sz="2000"/>
          </a:p>
        </p:txBody>
      </p:sp>
      <p:pic>
        <p:nvPicPr>
          <p:cNvPr id="441" name="Google Shape;441;p51"/>
          <p:cNvPicPr preferRelativeResize="0"/>
          <p:nvPr/>
        </p:nvPicPr>
        <p:blipFill rotWithShape="1">
          <a:blip r:embed="rId4">
            <a:alphaModFix/>
          </a:blip>
          <a:srcRect b="9257" l="0" r="0" t="9257"/>
          <a:stretch/>
        </p:blipFill>
        <p:spPr>
          <a:xfrm>
            <a:off x="3184400" y="2246575"/>
            <a:ext cx="2509875" cy="25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