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Lst>
  <p:sldSz cx="18288000" cy="10287000"/>
  <p:notesSz cx="6858000" cy="9144000"/>
  <p:embeddedFontLst>
    <p:embeddedFont>
      <p:font typeface="Canva Sans Bold" charset="1" panose="020B0803030501040103"/>
      <p:regular r:id="rId49"/>
    </p:embeddedFont>
    <p:embeddedFont>
      <p:font typeface="Canva Sans" charset="1" panose="020B0503030501040103"/>
      <p:regular r:id="rId50"/>
    </p:embeddedFont>
    <p:embeddedFont>
      <p:font typeface="Glacial Indifference" charset="1" panose="00000000000000000000"/>
      <p:regular r:id="rId5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51" Target="fonts/font51.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 Id="rId3" Target="../media/image38.jpeg" Type="http://schemas.openxmlformats.org/officeDocument/2006/relationships/image"/><Relationship Id="rId4" Target="../media/image39.jpe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 Id="rId3" Target="../media/image41.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9.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1.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310136" cy="8992601"/>
          </a:xfrm>
          <a:custGeom>
            <a:avLst/>
            <a:gdLst/>
            <a:ahLst/>
            <a:cxnLst/>
            <a:rect r="r" b="b" t="t" l="l"/>
            <a:pathLst>
              <a:path h="8992601" w="18310136">
                <a:moveTo>
                  <a:pt x="0" y="0"/>
                </a:moveTo>
                <a:lnTo>
                  <a:pt x="18310136" y="0"/>
                </a:lnTo>
                <a:lnTo>
                  <a:pt x="18310136" y="8992601"/>
                </a:lnTo>
                <a:lnTo>
                  <a:pt x="0" y="8992601"/>
                </a:lnTo>
                <a:lnTo>
                  <a:pt x="0" y="0"/>
                </a:lnTo>
                <a:close/>
              </a:path>
            </a:pathLst>
          </a:custGeom>
          <a:blipFill>
            <a:blip r:embed="rId2"/>
            <a:stretch>
              <a:fillRect l="0" t="0" r="0" b="-14394"/>
            </a:stretch>
          </a:blipFill>
        </p:spPr>
      </p:sp>
      <p:sp>
        <p:nvSpPr>
          <p:cNvPr name="TextBox 3" id="3"/>
          <p:cNvSpPr txBox="true"/>
          <p:nvPr/>
        </p:nvSpPr>
        <p:spPr>
          <a:xfrm rot="0">
            <a:off x="1028700" y="5245311"/>
            <a:ext cx="4082285" cy="2647949"/>
          </a:xfrm>
          <a:prstGeom prst="rect">
            <a:avLst/>
          </a:prstGeom>
        </p:spPr>
        <p:txBody>
          <a:bodyPr anchor="t" rtlCol="false" tIns="0" lIns="0" bIns="0" rIns="0">
            <a:spAutoFit/>
          </a:bodyPr>
          <a:lstStyle/>
          <a:p>
            <a:pPr algn="just">
              <a:lnSpc>
                <a:spcPts val="4200"/>
              </a:lnSpc>
            </a:pPr>
            <a:r>
              <a:rPr lang="en-US" sz="3000" b="true">
                <a:solidFill>
                  <a:srgbClr val="000000"/>
                </a:solidFill>
                <a:latin typeface="Canva Sans Bold"/>
                <a:ea typeface="Canva Sans Bold"/>
                <a:cs typeface="Canva Sans Bold"/>
                <a:sym typeface="Canva Sans Bold"/>
              </a:rPr>
              <a:t>By :</a:t>
            </a:r>
          </a:p>
          <a:p>
            <a:pPr algn="just">
              <a:lnSpc>
                <a:spcPts val="4200"/>
              </a:lnSpc>
            </a:pPr>
            <a:r>
              <a:rPr lang="en-US" sz="3000" b="true">
                <a:solidFill>
                  <a:srgbClr val="000000"/>
                </a:solidFill>
                <a:latin typeface="Canva Sans Bold"/>
                <a:ea typeface="Canva Sans Bold"/>
                <a:cs typeface="Canva Sans Bold"/>
                <a:sym typeface="Canva Sans Bold"/>
              </a:rPr>
              <a:t>Mahmoud Nweija </a:t>
            </a:r>
          </a:p>
          <a:p>
            <a:pPr algn="just">
              <a:lnSpc>
                <a:spcPts val="4200"/>
              </a:lnSpc>
            </a:pPr>
            <a:r>
              <a:rPr lang="en-US" sz="3000" b="true">
                <a:solidFill>
                  <a:srgbClr val="000000"/>
                </a:solidFill>
                <a:latin typeface="Canva Sans Bold"/>
                <a:ea typeface="Canva Sans Bold"/>
                <a:cs typeface="Canva Sans Bold"/>
                <a:sym typeface="Canva Sans Bold"/>
              </a:rPr>
              <a:t>Shurouq Abu Ewaili</a:t>
            </a:r>
          </a:p>
          <a:p>
            <a:pPr algn="just">
              <a:lnSpc>
                <a:spcPts val="4200"/>
              </a:lnSpc>
            </a:pPr>
            <a:r>
              <a:rPr lang="en-US" sz="3000" b="true">
                <a:solidFill>
                  <a:srgbClr val="000000"/>
                </a:solidFill>
                <a:latin typeface="Canva Sans Bold"/>
                <a:ea typeface="Canva Sans Bold"/>
                <a:cs typeface="Canva Sans Bold"/>
                <a:sym typeface="Canva Sans Bold"/>
              </a:rPr>
              <a:t>Mona Alrozzi</a:t>
            </a:r>
          </a:p>
          <a:p>
            <a:pPr algn="l" marL="0" indent="0" lvl="0">
              <a:lnSpc>
                <a:spcPts val="4200"/>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44929"/>
            <a:ext cx="18503121" cy="8997143"/>
          </a:xfrm>
          <a:custGeom>
            <a:avLst/>
            <a:gdLst/>
            <a:ahLst/>
            <a:cxnLst/>
            <a:rect r="r" b="b" t="t" l="l"/>
            <a:pathLst>
              <a:path h="8997143" w="18503121">
                <a:moveTo>
                  <a:pt x="0" y="0"/>
                </a:moveTo>
                <a:lnTo>
                  <a:pt x="18503121" y="0"/>
                </a:lnTo>
                <a:lnTo>
                  <a:pt x="18503121" y="8997142"/>
                </a:lnTo>
                <a:lnTo>
                  <a:pt x="0" y="8997142"/>
                </a:lnTo>
                <a:lnTo>
                  <a:pt x="0" y="0"/>
                </a:lnTo>
                <a:close/>
              </a:path>
            </a:pathLst>
          </a:custGeom>
          <a:blipFill>
            <a:blip r:embed="rId2"/>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914400"/>
            <a:ext cx="18288000" cy="9372600"/>
          </a:xfrm>
          <a:custGeom>
            <a:avLst/>
            <a:gdLst/>
            <a:ahLst/>
            <a:cxnLst/>
            <a:rect r="r" b="b" t="t" l="l"/>
            <a:pathLst>
              <a:path h="9372600" w="18288000">
                <a:moveTo>
                  <a:pt x="0" y="0"/>
                </a:moveTo>
                <a:lnTo>
                  <a:pt x="18288000" y="0"/>
                </a:lnTo>
                <a:lnTo>
                  <a:pt x="18288000" y="9372600"/>
                </a:lnTo>
                <a:lnTo>
                  <a:pt x="0" y="9372600"/>
                </a:lnTo>
                <a:lnTo>
                  <a:pt x="0" y="0"/>
                </a:lnTo>
                <a:close/>
              </a:path>
            </a:pathLst>
          </a:custGeom>
          <a:blipFill>
            <a:blip r:embed="rId2"/>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45770"/>
            <a:ext cx="19155679" cy="9841230"/>
          </a:xfrm>
          <a:custGeom>
            <a:avLst/>
            <a:gdLst/>
            <a:ahLst/>
            <a:cxnLst/>
            <a:rect r="r" b="b" t="t" l="l"/>
            <a:pathLst>
              <a:path h="9841230" w="19155679">
                <a:moveTo>
                  <a:pt x="0" y="0"/>
                </a:moveTo>
                <a:lnTo>
                  <a:pt x="19155679" y="0"/>
                </a:lnTo>
                <a:lnTo>
                  <a:pt x="19155679" y="9841230"/>
                </a:lnTo>
                <a:lnTo>
                  <a:pt x="0" y="9841230"/>
                </a:lnTo>
                <a:lnTo>
                  <a:pt x="0" y="0"/>
                </a:lnTo>
                <a:close/>
              </a:path>
            </a:pathLst>
          </a:custGeom>
          <a:blipFill>
            <a:blip r:embed="rId2"/>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34340"/>
            <a:ext cx="18288000" cy="9418320"/>
          </a:xfrm>
          <a:custGeom>
            <a:avLst/>
            <a:gdLst/>
            <a:ahLst/>
            <a:cxnLst/>
            <a:rect r="r" b="b" t="t" l="l"/>
            <a:pathLst>
              <a:path h="9418320" w="18288000">
                <a:moveTo>
                  <a:pt x="0" y="0"/>
                </a:moveTo>
                <a:lnTo>
                  <a:pt x="18288000" y="0"/>
                </a:lnTo>
                <a:lnTo>
                  <a:pt x="18288000" y="9418320"/>
                </a:lnTo>
                <a:lnTo>
                  <a:pt x="0" y="9418320"/>
                </a:lnTo>
                <a:lnTo>
                  <a:pt x="0" y="0"/>
                </a:lnTo>
                <a:close/>
              </a:path>
            </a:pathLst>
          </a:custGeom>
          <a:blipFill>
            <a:blip r:embed="rId2"/>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43804"/>
            <a:ext cx="18288000" cy="9399392"/>
          </a:xfrm>
          <a:custGeom>
            <a:avLst/>
            <a:gdLst/>
            <a:ahLst/>
            <a:cxnLst/>
            <a:rect r="r" b="b" t="t" l="l"/>
            <a:pathLst>
              <a:path h="9399392" w="18288000">
                <a:moveTo>
                  <a:pt x="0" y="0"/>
                </a:moveTo>
                <a:lnTo>
                  <a:pt x="18288000" y="0"/>
                </a:lnTo>
                <a:lnTo>
                  <a:pt x="18288000" y="9399392"/>
                </a:lnTo>
                <a:lnTo>
                  <a:pt x="0" y="9399392"/>
                </a:lnTo>
                <a:lnTo>
                  <a:pt x="0" y="0"/>
                </a:lnTo>
                <a:close/>
              </a:path>
            </a:pathLst>
          </a:custGeom>
          <a:blipFill>
            <a:blip r:embed="rId2"/>
            <a:stretch>
              <a:fillRect l="0" t="0" r="0" b="-6281"/>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9878261" cy="10287000"/>
          </a:xfrm>
          <a:custGeom>
            <a:avLst/>
            <a:gdLst/>
            <a:ahLst/>
            <a:cxnLst/>
            <a:rect r="r" b="b" t="t" l="l"/>
            <a:pathLst>
              <a:path h="10287000" w="19878261">
                <a:moveTo>
                  <a:pt x="0" y="0"/>
                </a:moveTo>
                <a:lnTo>
                  <a:pt x="19878261" y="0"/>
                </a:lnTo>
                <a:lnTo>
                  <a:pt x="19878261" y="10287000"/>
                </a:lnTo>
                <a:lnTo>
                  <a:pt x="0" y="10287000"/>
                </a:lnTo>
                <a:lnTo>
                  <a:pt x="0" y="0"/>
                </a:lnTo>
                <a:close/>
              </a:path>
            </a:pathLst>
          </a:custGeom>
          <a:blipFill>
            <a:blip r:embed="rId2"/>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45770"/>
            <a:ext cx="18523049" cy="9841230"/>
          </a:xfrm>
          <a:custGeom>
            <a:avLst/>
            <a:gdLst/>
            <a:ahLst/>
            <a:cxnLst/>
            <a:rect r="r" b="b" t="t" l="l"/>
            <a:pathLst>
              <a:path h="9841230" w="18523049">
                <a:moveTo>
                  <a:pt x="0" y="0"/>
                </a:moveTo>
                <a:lnTo>
                  <a:pt x="18523049" y="0"/>
                </a:lnTo>
                <a:lnTo>
                  <a:pt x="18523049" y="9841230"/>
                </a:lnTo>
                <a:lnTo>
                  <a:pt x="0" y="9841230"/>
                </a:lnTo>
                <a:lnTo>
                  <a:pt x="0" y="0"/>
                </a:lnTo>
                <a:close/>
              </a:path>
            </a:pathLst>
          </a:custGeom>
          <a:blipFill>
            <a:blip r:embed="rId2"/>
            <a:stretch>
              <a:fillRect l="-1707" t="0" r="-1707" b="0"/>
            </a:stretch>
          </a:blipFill>
        </p:spPr>
      </p:sp>
      <p:sp>
        <p:nvSpPr>
          <p:cNvPr name="Freeform 3" id="3"/>
          <p:cNvSpPr/>
          <p:nvPr/>
        </p:nvSpPr>
        <p:spPr>
          <a:xfrm flipH="false" flipV="false" rot="0">
            <a:off x="9261524" y="4889770"/>
            <a:ext cx="8767375" cy="3432757"/>
          </a:xfrm>
          <a:custGeom>
            <a:avLst/>
            <a:gdLst/>
            <a:ahLst/>
            <a:cxnLst/>
            <a:rect r="r" b="b" t="t" l="l"/>
            <a:pathLst>
              <a:path h="3432757" w="8767375">
                <a:moveTo>
                  <a:pt x="0" y="0"/>
                </a:moveTo>
                <a:lnTo>
                  <a:pt x="8767375" y="0"/>
                </a:lnTo>
                <a:lnTo>
                  <a:pt x="8767375" y="3432757"/>
                </a:lnTo>
                <a:lnTo>
                  <a:pt x="0" y="3432757"/>
                </a:lnTo>
                <a:lnTo>
                  <a:pt x="0" y="0"/>
                </a:lnTo>
                <a:close/>
              </a:path>
            </a:pathLst>
          </a:custGeom>
          <a:blipFill>
            <a:blip r:embed="rId3"/>
            <a:stretch>
              <a:fillRect l="0" t="0" r="-28901" b="0"/>
            </a:stretch>
          </a:blipFill>
          <a:ln w="38100" cap="sq">
            <a:solidFill>
              <a:srgbClr val="000000"/>
            </a:solidFill>
            <a:prstDash val="solid"/>
            <a:miter/>
          </a:ln>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45770"/>
            <a:ext cx="18523049" cy="9841230"/>
          </a:xfrm>
          <a:custGeom>
            <a:avLst/>
            <a:gdLst/>
            <a:ahLst/>
            <a:cxnLst/>
            <a:rect r="r" b="b" t="t" l="l"/>
            <a:pathLst>
              <a:path h="9841230" w="18523049">
                <a:moveTo>
                  <a:pt x="0" y="0"/>
                </a:moveTo>
                <a:lnTo>
                  <a:pt x="18523049" y="0"/>
                </a:lnTo>
                <a:lnTo>
                  <a:pt x="18523049" y="9841230"/>
                </a:lnTo>
                <a:lnTo>
                  <a:pt x="0" y="9841230"/>
                </a:lnTo>
                <a:lnTo>
                  <a:pt x="0" y="0"/>
                </a:lnTo>
                <a:close/>
              </a:path>
            </a:pathLst>
          </a:custGeom>
          <a:blipFill>
            <a:blip r:embed="rId2"/>
            <a:stretch>
              <a:fillRect l="-1707" t="0" r="-1707" b="0"/>
            </a:stretch>
          </a:blipFill>
        </p:spPr>
      </p:sp>
      <p:sp>
        <p:nvSpPr>
          <p:cNvPr name="Freeform 3" id="3"/>
          <p:cNvSpPr/>
          <p:nvPr/>
        </p:nvSpPr>
        <p:spPr>
          <a:xfrm flipH="false" flipV="false" rot="0">
            <a:off x="482295" y="5780340"/>
            <a:ext cx="8779230" cy="1940027"/>
          </a:xfrm>
          <a:custGeom>
            <a:avLst/>
            <a:gdLst/>
            <a:ahLst/>
            <a:cxnLst/>
            <a:rect r="r" b="b" t="t" l="l"/>
            <a:pathLst>
              <a:path h="1940027" w="8779230">
                <a:moveTo>
                  <a:pt x="0" y="0"/>
                </a:moveTo>
                <a:lnTo>
                  <a:pt x="8779229" y="0"/>
                </a:lnTo>
                <a:lnTo>
                  <a:pt x="8779229" y="1940027"/>
                </a:lnTo>
                <a:lnTo>
                  <a:pt x="0" y="1940027"/>
                </a:lnTo>
                <a:lnTo>
                  <a:pt x="0" y="0"/>
                </a:lnTo>
                <a:close/>
              </a:path>
            </a:pathLst>
          </a:custGeom>
          <a:blipFill>
            <a:blip r:embed="rId3"/>
            <a:stretch>
              <a:fillRect l="-7733" t="0" r="-116043" b="0"/>
            </a:stretch>
          </a:blipFill>
          <a:ln w="38100" cap="sq">
            <a:solidFill>
              <a:srgbClr val="000000"/>
            </a:solidFill>
            <a:prstDash val="solid"/>
            <a:miter/>
          </a:ln>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34340"/>
            <a:ext cx="18288000" cy="9418320"/>
          </a:xfrm>
          <a:custGeom>
            <a:avLst/>
            <a:gdLst/>
            <a:ahLst/>
            <a:cxnLst/>
            <a:rect r="r" b="b" t="t" l="l"/>
            <a:pathLst>
              <a:path h="9418320" w="18288000">
                <a:moveTo>
                  <a:pt x="0" y="0"/>
                </a:moveTo>
                <a:lnTo>
                  <a:pt x="18288000" y="0"/>
                </a:lnTo>
                <a:lnTo>
                  <a:pt x="18288000" y="9418320"/>
                </a:lnTo>
                <a:lnTo>
                  <a:pt x="0" y="9418320"/>
                </a:lnTo>
                <a:lnTo>
                  <a:pt x="0" y="0"/>
                </a:lnTo>
                <a:close/>
              </a:path>
            </a:pathLst>
          </a:custGeom>
          <a:blipFill>
            <a:blip r:embed="rId2"/>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29478"/>
            <a:ext cx="18288000" cy="9326880"/>
          </a:xfrm>
          <a:custGeom>
            <a:avLst/>
            <a:gdLst/>
            <a:ahLst/>
            <a:cxnLst/>
            <a:rect r="r" b="b" t="t" l="l"/>
            <a:pathLst>
              <a:path h="9326880" w="18288000">
                <a:moveTo>
                  <a:pt x="0" y="0"/>
                </a:moveTo>
                <a:lnTo>
                  <a:pt x="18288000" y="0"/>
                </a:lnTo>
                <a:lnTo>
                  <a:pt x="18288000" y="9326880"/>
                </a:lnTo>
                <a:lnTo>
                  <a:pt x="0" y="9326880"/>
                </a:lnTo>
                <a:lnTo>
                  <a:pt x="0" y="0"/>
                </a:lnTo>
                <a:close/>
              </a:path>
            </a:pathLst>
          </a:custGeom>
          <a:blipFill>
            <a:blip r:embed="rId2"/>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68630"/>
            <a:ext cx="18288000" cy="3096645"/>
          </a:xfrm>
          <a:custGeom>
            <a:avLst/>
            <a:gdLst/>
            <a:ahLst/>
            <a:cxnLst/>
            <a:rect r="r" b="b" t="t" l="l"/>
            <a:pathLst>
              <a:path h="3096645" w="18288000">
                <a:moveTo>
                  <a:pt x="0" y="0"/>
                </a:moveTo>
                <a:lnTo>
                  <a:pt x="18288000" y="0"/>
                </a:lnTo>
                <a:lnTo>
                  <a:pt x="18288000" y="3096645"/>
                </a:lnTo>
                <a:lnTo>
                  <a:pt x="0" y="3096645"/>
                </a:lnTo>
                <a:lnTo>
                  <a:pt x="0" y="0"/>
                </a:lnTo>
                <a:close/>
              </a:path>
            </a:pathLst>
          </a:custGeom>
          <a:blipFill>
            <a:blip r:embed="rId2"/>
            <a:stretch>
              <a:fillRect l="0" t="0" r="0" b="-201931"/>
            </a:stretch>
          </a:blipFill>
        </p:spPr>
      </p:sp>
      <p:sp>
        <p:nvSpPr>
          <p:cNvPr name="Freeform 3" id="3"/>
          <p:cNvSpPr/>
          <p:nvPr/>
        </p:nvSpPr>
        <p:spPr>
          <a:xfrm flipH="false" flipV="false" rot="0">
            <a:off x="1028700" y="3565275"/>
            <a:ext cx="15893049" cy="3559642"/>
          </a:xfrm>
          <a:custGeom>
            <a:avLst/>
            <a:gdLst/>
            <a:ahLst/>
            <a:cxnLst/>
            <a:rect r="r" b="b" t="t" l="l"/>
            <a:pathLst>
              <a:path h="3559642" w="15893049">
                <a:moveTo>
                  <a:pt x="0" y="0"/>
                </a:moveTo>
                <a:lnTo>
                  <a:pt x="15893049" y="0"/>
                </a:lnTo>
                <a:lnTo>
                  <a:pt x="15893049" y="3559642"/>
                </a:lnTo>
                <a:lnTo>
                  <a:pt x="0" y="3559642"/>
                </a:lnTo>
                <a:lnTo>
                  <a:pt x="0" y="0"/>
                </a:lnTo>
                <a:close/>
              </a:path>
            </a:pathLst>
          </a:custGeom>
          <a:blipFill>
            <a:blip r:embed="rId3"/>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00050"/>
            <a:ext cx="18288000" cy="9486900"/>
          </a:xfrm>
          <a:custGeom>
            <a:avLst/>
            <a:gdLst/>
            <a:ahLst/>
            <a:cxnLst/>
            <a:rect r="r" b="b" t="t" l="l"/>
            <a:pathLst>
              <a:path h="9486900" w="18288000">
                <a:moveTo>
                  <a:pt x="0" y="0"/>
                </a:moveTo>
                <a:lnTo>
                  <a:pt x="18288000" y="0"/>
                </a:lnTo>
                <a:lnTo>
                  <a:pt x="18288000" y="9486900"/>
                </a:lnTo>
                <a:lnTo>
                  <a:pt x="0" y="9486900"/>
                </a:lnTo>
                <a:lnTo>
                  <a:pt x="0" y="0"/>
                </a:lnTo>
                <a:close/>
              </a:path>
            </a:pathLst>
          </a:custGeom>
          <a:blipFill>
            <a:blip r:embed="rId2"/>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4389120"/>
          </a:xfrm>
          <a:custGeom>
            <a:avLst/>
            <a:gdLst/>
            <a:ahLst/>
            <a:cxnLst/>
            <a:rect r="r" b="b" t="t" l="l"/>
            <a:pathLst>
              <a:path h="4389120" w="18288000">
                <a:moveTo>
                  <a:pt x="0" y="0"/>
                </a:moveTo>
                <a:lnTo>
                  <a:pt x="18288000" y="0"/>
                </a:lnTo>
                <a:lnTo>
                  <a:pt x="18288000" y="4389120"/>
                </a:lnTo>
                <a:lnTo>
                  <a:pt x="0" y="4389120"/>
                </a:lnTo>
                <a:lnTo>
                  <a:pt x="0" y="0"/>
                </a:lnTo>
                <a:close/>
              </a:path>
            </a:pathLst>
          </a:custGeom>
          <a:blipFill>
            <a:blip r:embed="rId2"/>
            <a:stretch>
              <a:fillRect l="0" t="0" r="0" b="0"/>
            </a:stretch>
          </a:blipFill>
        </p:spPr>
      </p:sp>
      <p:sp>
        <p:nvSpPr>
          <p:cNvPr name="Freeform 3" id="3"/>
          <p:cNvSpPr/>
          <p:nvPr/>
        </p:nvSpPr>
        <p:spPr>
          <a:xfrm flipH="false" flipV="false" rot="0">
            <a:off x="4798971" y="2194560"/>
            <a:ext cx="10142889" cy="8092440"/>
          </a:xfrm>
          <a:custGeom>
            <a:avLst/>
            <a:gdLst/>
            <a:ahLst/>
            <a:cxnLst/>
            <a:rect r="r" b="b" t="t" l="l"/>
            <a:pathLst>
              <a:path h="8092440" w="10142889">
                <a:moveTo>
                  <a:pt x="0" y="0"/>
                </a:moveTo>
                <a:lnTo>
                  <a:pt x="10142889" y="0"/>
                </a:lnTo>
                <a:lnTo>
                  <a:pt x="10142889" y="8092440"/>
                </a:lnTo>
                <a:lnTo>
                  <a:pt x="0" y="8092440"/>
                </a:lnTo>
                <a:lnTo>
                  <a:pt x="0" y="0"/>
                </a:lnTo>
                <a:close/>
              </a:path>
            </a:pathLst>
          </a:custGeom>
          <a:blipFill>
            <a:blip r:embed="rId3"/>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34340"/>
            <a:ext cx="18288000" cy="9418320"/>
          </a:xfrm>
          <a:custGeom>
            <a:avLst/>
            <a:gdLst/>
            <a:ahLst/>
            <a:cxnLst/>
            <a:rect r="r" b="b" t="t" l="l"/>
            <a:pathLst>
              <a:path h="9418320" w="18288000">
                <a:moveTo>
                  <a:pt x="0" y="0"/>
                </a:moveTo>
                <a:lnTo>
                  <a:pt x="18288000" y="0"/>
                </a:lnTo>
                <a:lnTo>
                  <a:pt x="18288000" y="9418320"/>
                </a:lnTo>
                <a:lnTo>
                  <a:pt x="0" y="9418320"/>
                </a:lnTo>
                <a:lnTo>
                  <a:pt x="0" y="0"/>
                </a:lnTo>
                <a:close/>
              </a:path>
            </a:pathLst>
          </a:custGeom>
          <a:blipFill>
            <a:blip r:embed="rId2"/>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9143" y="0"/>
            <a:ext cx="18238857" cy="3587983"/>
          </a:xfrm>
          <a:custGeom>
            <a:avLst/>
            <a:gdLst/>
            <a:ahLst/>
            <a:cxnLst/>
            <a:rect r="r" b="b" t="t" l="l"/>
            <a:pathLst>
              <a:path h="3587983" w="18238857">
                <a:moveTo>
                  <a:pt x="0" y="0"/>
                </a:moveTo>
                <a:lnTo>
                  <a:pt x="18238857" y="0"/>
                </a:lnTo>
                <a:lnTo>
                  <a:pt x="18238857" y="3587983"/>
                </a:lnTo>
                <a:lnTo>
                  <a:pt x="0" y="3587983"/>
                </a:lnTo>
                <a:lnTo>
                  <a:pt x="0" y="0"/>
                </a:lnTo>
                <a:close/>
              </a:path>
            </a:pathLst>
          </a:custGeom>
          <a:blipFill>
            <a:blip r:embed="rId2"/>
            <a:stretch>
              <a:fillRect l="-269" t="0" r="0" b="-162496"/>
            </a:stretch>
          </a:blipFill>
        </p:spPr>
      </p:sp>
      <p:sp>
        <p:nvSpPr>
          <p:cNvPr name="Freeform 3" id="3"/>
          <p:cNvSpPr/>
          <p:nvPr/>
        </p:nvSpPr>
        <p:spPr>
          <a:xfrm flipH="false" flipV="false" rot="0">
            <a:off x="2715835" y="2440315"/>
            <a:ext cx="12830828" cy="6817985"/>
          </a:xfrm>
          <a:custGeom>
            <a:avLst/>
            <a:gdLst/>
            <a:ahLst/>
            <a:cxnLst/>
            <a:rect r="r" b="b" t="t" l="l"/>
            <a:pathLst>
              <a:path h="6817985" w="12830828">
                <a:moveTo>
                  <a:pt x="0" y="0"/>
                </a:moveTo>
                <a:lnTo>
                  <a:pt x="12830828" y="0"/>
                </a:lnTo>
                <a:lnTo>
                  <a:pt x="12830828" y="6817985"/>
                </a:lnTo>
                <a:lnTo>
                  <a:pt x="0" y="6817985"/>
                </a:lnTo>
                <a:lnTo>
                  <a:pt x="0" y="0"/>
                </a:lnTo>
                <a:close/>
              </a:path>
            </a:pathLst>
          </a:custGeom>
          <a:blipFill>
            <a:blip r:embed="rId3"/>
            <a:stretch>
              <a:fillRect l="0" t="0" r="-581"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5009" y="0"/>
            <a:ext cx="18261566" cy="9424134"/>
          </a:xfrm>
          <a:custGeom>
            <a:avLst/>
            <a:gdLst/>
            <a:ahLst/>
            <a:cxnLst/>
            <a:rect r="r" b="b" t="t" l="l"/>
            <a:pathLst>
              <a:path h="9424134" w="18261566">
                <a:moveTo>
                  <a:pt x="0" y="0"/>
                </a:moveTo>
                <a:lnTo>
                  <a:pt x="18261566" y="0"/>
                </a:lnTo>
                <a:lnTo>
                  <a:pt x="18261566" y="9424134"/>
                </a:lnTo>
                <a:lnTo>
                  <a:pt x="0" y="9424134"/>
                </a:lnTo>
                <a:lnTo>
                  <a:pt x="0" y="0"/>
                </a:lnTo>
                <a:close/>
              </a:path>
            </a:pathLst>
          </a:custGeom>
          <a:blipFill>
            <a:blip r:embed="rId2"/>
            <a:stretch>
              <a:fillRect l="-144" t="0" r="0" b="-1151"/>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57200"/>
            <a:ext cx="18288000" cy="9372600"/>
          </a:xfrm>
          <a:custGeom>
            <a:avLst/>
            <a:gdLst/>
            <a:ahLst/>
            <a:cxnLst/>
            <a:rect r="r" b="b" t="t" l="l"/>
            <a:pathLst>
              <a:path h="9372600" w="18288000">
                <a:moveTo>
                  <a:pt x="0" y="0"/>
                </a:moveTo>
                <a:lnTo>
                  <a:pt x="18288000" y="0"/>
                </a:lnTo>
                <a:lnTo>
                  <a:pt x="18288000" y="9372600"/>
                </a:lnTo>
                <a:lnTo>
                  <a:pt x="0" y="9372600"/>
                </a:lnTo>
                <a:lnTo>
                  <a:pt x="0" y="0"/>
                </a:lnTo>
                <a:close/>
              </a:path>
            </a:pathLst>
          </a:custGeom>
          <a:blipFill>
            <a:blip r:embed="rId2"/>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6434" y="0"/>
            <a:ext cx="18261566" cy="4382790"/>
          </a:xfrm>
          <a:custGeom>
            <a:avLst/>
            <a:gdLst/>
            <a:ahLst/>
            <a:cxnLst/>
            <a:rect r="r" b="b" t="t" l="l"/>
            <a:pathLst>
              <a:path h="4382790" w="18261566">
                <a:moveTo>
                  <a:pt x="0" y="0"/>
                </a:moveTo>
                <a:lnTo>
                  <a:pt x="18261566" y="0"/>
                </a:lnTo>
                <a:lnTo>
                  <a:pt x="18261566" y="4382790"/>
                </a:lnTo>
                <a:lnTo>
                  <a:pt x="0" y="4382790"/>
                </a:lnTo>
                <a:lnTo>
                  <a:pt x="0" y="0"/>
                </a:lnTo>
                <a:close/>
              </a:path>
            </a:pathLst>
          </a:custGeom>
          <a:blipFill>
            <a:blip r:embed="rId2"/>
            <a:stretch>
              <a:fillRect l="-144" t="0" r="0" b="-114893"/>
            </a:stretch>
          </a:blipFill>
        </p:spPr>
      </p:sp>
      <p:sp>
        <p:nvSpPr>
          <p:cNvPr name="Freeform 3" id="3"/>
          <p:cNvSpPr/>
          <p:nvPr/>
        </p:nvSpPr>
        <p:spPr>
          <a:xfrm flipH="false" flipV="false" rot="0">
            <a:off x="5240771" y="2248167"/>
            <a:ext cx="7458727" cy="7786984"/>
          </a:xfrm>
          <a:custGeom>
            <a:avLst/>
            <a:gdLst/>
            <a:ahLst/>
            <a:cxnLst/>
            <a:rect r="r" b="b" t="t" l="l"/>
            <a:pathLst>
              <a:path h="7786984" w="7458727">
                <a:moveTo>
                  <a:pt x="0" y="0"/>
                </a:moveTo>
                <a:lnTo>
                  <a:pt x="7458726" y="0"/>
                </a:lnTo>
                <a:lnTo>
                  <a:pt x="7458726" y="7786983"/>
                </a:lnTo>
                <a:lnTo>
                  <a:pt x="0" y="7786983"/>
                </a:lnTo>
                <a:lnTo>
                  <a:pt x="0" y="0"/>
                </a:lnTo>
                <a:close/>
              </a:path>
            </a:pathLst>
          </a:custGeom>
          <a:blipFill>
            <a:blip r:embed="rId3"/>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9418320"/>
          </a:xfrm>
          <a:custGeom>
            <a:avLst/>
            <a:gdLst/>
            <a:ahLst/>
            <a:cxnLst/>
            <a:rect r="r" b="b" t="t" l="l"/>
            <a:pathLst>
              <a:path h="9418320" w="18288000">
                <a:moveTo>
                  <a:pt x="0" y="0"/>
                </a:moveTo>
                <a:lnTo>
                  <a:pt x="18288000" y="0"/>
                </a:lnTo>
                <a:lnTo>
                  <a:pt x="18288000" y="9418320"/>
                </a:lnTo>
                <a:lnTo>
                  <a:pt x="0" y="9418320"/>
                </a:lnTo>
                <a:lnTo>
                  <a:pt x="0" y="0"/>
                </a:lnTo>
                <a:close/>
              </a:path>
            </a:pathLst>
          </a:custGeom>
          <a:blipFill>
            <a:blip r:embed="rId2"/>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22860"/>
            <a:ext cx="16266921" cy="10241280"/>
          </a:xfrm>
          <a:custGeom>
            <a:avLst/>
            <a:gdLst/>
            <a:ahLst/>
            <a:cxnLst/>
            <a:rect r="r" b="b" t="t" l="l"/>
            <a:pathLst>
              <a:path h="10241280" w="16266921">
                <a:moveTo>
                  <a:pt x="0" y="0"/>
                </a:moveTo>
                <a:lnTo>
                  <a:pt x="16266921" y="0"/>
                </a:lnTo>
                <a:lnTo>
                  <a:pt x="16266921" y="10241280"/>
                </a:lnTo>
                <a:lnTo>
                  <a:pt x="0" y="10241280"/>
                </a:lnTo>
                <a:lnTo>
                  <a:pt x="0" y="0"/>
                </a:lnTo>
                <a:close/>
              </a:path>
            </a:pathLst>
          </a:custGeom>
          <a:blipFill>
            <a:blip r:embed="rId2"/>
            <a:stretch>
              <a:fillRect l="0" t="0" r="-12424" b="0"/>
            </a:stretch>
          </a:blipFill>
        </p:spPr>
      </p:sp>
      <p:sp>
        <p:nvSpPr>
          <p:cNvPr name="Freeform 3" id="3"/>
          <p:cNvSpPr/>
          <p:nvPr/>
        </p:nvSpPr>
        <p:spPr>
          <a:xfrm flipH="false" flipV="false" rot="0">
            <a:off x="10131145" y="2123250"/>
            <a:ext cx="8156855" cy="8163750"/>
          </a:xfrm>
          <a:custGeom>
            <a:avLst/>
            <a:gdLst/>
            <a:ahLst/>
            <a:cxnLst/>
            <a:rect r="r" b="b" t="t" l="l"/>
            <a:pathLst>
              <a:path h="8163750" w="8156855">
                <a:moveTo>
                  <a:pt x="0" y="0"/>
                </a:moveTo>
                <a:lnTo>
                  <a:pt x="8156855" y="0"/>
                </a:lnTo>
                <a:lnTo>
                  <a:pt x="8156855" y="8163750"/>
                </a:lnTo>
                <a:lnTo>
                  <a:pt x="0" y="8163750"/>
                </a:lnTo>
                <a:lnTo>
                  <a:pt x="0" y="0"/>
                </a:lnTo>
                <a:close/>
              </a:path>
            </a:pathLst>
          </a:custGeom>
          <a:blipFill>
            <a:blip r:embed="rId3"/>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453012" y="394197"/>
            <a:ext cx="11990884" cy="9498607"/>
          </a:xfrm>
          <a:custGeom>
            <a:avLst/>
            <a:gdLst/>
            <a:ahLst/>
            <a:cxnLst/>
            <a:rect r="r" b="b" t="t" l="l"/>
            <a:pathLst>
              <a:path h="9498607" w="11990884">
                <a:moveTo>
                  <a:pt x="0" y="0"/>
                </a:moveTo>
                <a:lnTo>
                  <a:pt x="11990885" y="0"/>
                </a:lnTo>
                <a:lnTo>
                  <a:pt x="11990885" y="9498606"/>
                </a:lnTo>
                <a:lnTo>
                  <a:pt x="0" y="9498606"/>
                </a:lnTo>
                <a:lnTo>
                  <a:pt x="0" y="0"/>
                </a:lnTo>
                <a:close/>
              </a:path>
            </a:pathLst>
          </a:custGeom>
          <a:blipFill>
            <a:blip r:embed="rId2"/>
            <a:stretch>
              <a:fillRect l="-53815" t="0" r="0" b="0"/>
            </a:stretch>
          </a:blipFill>
        </p:spPr>
      </p:sp>
      <p:sp>
        <p:nvSpPr>
          <p:cNvPr name="TextBox 3" id="3"/>
          <p:cNvSpPr txBox="true"/>
          <p:nvPr/>
        </p:nvSpPr>
        <p:spPr>
          <a:xfrm rot="0">
            <a:off x="1028700" y="3926205"/>
            <a:ext cx="4412950" cy="2910840"/>
          </a:xfrm>
          <a:prstGeom prst="rect">
            <a:avLst/>
          </a:prstGeom>
        </p:spPr>
        <p:txBody>
          <a:bodyPr anchor="t" rtlCol="false" tIns="0" lIns="0" bIns="0" rIns="0">
            <a:spAutoFit/>
          </a:bodyPr>
          <a:lstStyle/>
          <a:p>
            <a:pPr algn="l">
              <a:lnSpc>
                <a:spcPts val="3359"/>
              </a:lnSpc>
            </a:pPr>
            <a:r>
              <a:rPr lang="en-US" b="true" sz="2400">
                <a:solidFill>
                  <a:srgbClr val="000000"/>
                </a:solidFill>
                <a:latin typeface="Canva Sans Bold"/>
                <a:ea typeface="Canva Sans Bold"/>
                <a:cs typeface="Canva Sans Bold"/>
                <a:sym typeface="Canva Sans Bold"/>
              </a:rPr>
              <a:t>ANOVA (Analysis of Variance) is a statistical test used to compare the means of three or more groups to determine whether there are statistically significant differences between them.</a:t>
            </a:r>
          </a:p>
        </p:txBody>
      </p:sp>
      <p:sp>
        <p:nvSpPr>
          <p:cNvPr name="TextBox 4" id="4"/>
          <p:cNvSpPr txBox="true"/>
          <p:nvPr/>
        </p:nvSpPr>
        <p:spPr>
          <a:xfrm rot="0">
            <a:off x="-817515" y="3215176"/>
            <a:ext cx="6888204" cy="587376"/>
          </a:xfrm>
          <a:prstGeom prst="rect">
            <a:avLst/>
          </a:prstGeom>
        </p:spPr>
        <p:txBody>
          <a:bodyPr anchor="t" rtlCol="false" tIns="0" lIns="0" bIns="0" rIns="0">
            <a:spAutoFit/>
          </a:bodyPr>
          <a:lstStyle/>
          <a:p>
            <a:pPr algn="ctr">
              <a:lnSpc>
                <a:spcPts val="4899"/>
              </a:lnSpc>
            </a:pPr>
            <a:r>
              <a:rPr lang="en-US" b="true" sz="3499">
                <a:solidFill>
                  <a:srgbClr val="000000"/>
                </a:solidFill>
                <a:latin typeface="Canva Sans Bold"/>
                <a:ea typeface="Canva Sans Bold"/>
                <a:cs typeface="Canva Sans Bold"/>
                <a:sym typeface="Canva Sans Bold"/>
              </a:rPr>
              <a:t>ANOVA Results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57200"/>
            <a:ext cx="18288000" cy="9372600"/>
          </a:xfrm>
          <a:custGeom>
            <a:avLst/>
            <a:gdLst/>
            <a:ahLst/>
            <a:cxnLst/>
            <a:rect r="r" b="b" t="t" l="l"/>
            <a:pathLst>
              <a:path h="9372600" w="18288000">
                <a:moveTo>
                  <a:pt x="0" y="0"/>
                </a:moveTo>
                <a:lnTo>
                  <a:pt x="18288000" y="0"/>
                </a:lnTo>
                <a:lnTo>
                  <a:pt x="18288000" y="9372600"/>
                </a:lnTo>
                <a:lnTo>
                  <a:pt x="0" y="9372600"/>
                </a:lnTo>
                <a:lnTo>
                  <a:pt x="0" y="0"/>
                </a:lnTo>
                <a:close/>
              </a:path>
            </a:pathLst>
          </a:custGeom>
          <a:blipFill>
            <a:blip r:embed="rId2"/>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0365" y="0"/>
            <a:ext cx="18328731" cy="10287000"/>
          </a:xfrm>
          <a:custGeom>
            <a:avLst/>
            <a:gdLst/>
            <a:ahLst/>
            <a:cxnLst/>
            <a:rect r="r" b="b" t="t" l="l"/>
            <a:pathLst>
              <a:path h="10287000" w="18328731">
                <a:moveTo>
                  <a:pt x="0" y="0"/>
                </a:moveTo>
                <a:lnTo>
                  <a:pt x="18328730" y="0"/>
                </a:lnTo>
                <a:lnTo>
                  <a:pt x="18328730" y="10287000"/>
                </a:lnTo>
                <a:lnTo>
                  <a:pt x="0" y="10287000"/>
                </a:lnTo>
                <a:lnTo>
                  <a:pt x="0" y="0"/>
                </a:lnTo>
                <a:close/>
              </a:path>
            </a:pathLst>
          </a:custGeom>
          <a:blipFill>
            <a:blip r:embed="rId2"/>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68630"/>
            <a:ext cx="18288000" cy="9349740"/>
          </a:xfrm>
          <a:custGeom>
            <a:avLst/>
            <a:gdLst/>
            <a:ahLst/>
            <a:cxnLst/>
            <a:rect r="r" b="b" t="t" l="l"/>
            <a:pathLst>
              <a:path h="9349740" w="18288000">
                <a:moveTo>
                  <a:pt x="0" y="0"/>
                </a:moveTo>
                <a:lnTo>
                  <a:pt x="18288000" y="0"/>
                </a:lnTo>
                <a:lnTo>
                  <a:pt x="18288000" y="9349740"/>
                </a:lnTo>
                <a:lnTo>
                  <a:pt x="0" y="9349740"/>
                </a:lnTo>
                <a:lnTo>
                  <a:pt x="0" y="0"/>
                </a:lnTo>
                <a:close/>
              </a:path>
            </a:pathLst>
          </a:custGeom>
          <a:blipFill>
            <a:blip r:embed="rId2"/>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34340"/>
            <a:ext cx="18288000" cy="9418320"/>
          </a:xfrm>
          <a:custGeom>
            <a:avLst/>
            <a:gdLst/>
            <a:ahLst/>
            <a:cxnLst/>
            <a:rect r="r" b="b" t="t" l="l"/>
            <a:pathLst>
              <a:path h="9418320" w="18288000">
                <a:moveTo>
                  <a:pt x="0" y="0"/>
                </a:moveTo>
                <a:lnTo>
                  <a:pt x="18288000" y="0"/>
                </a:lnTo>
                <a:lnTo>
                  <a:pt x="18288000" y="9418320"/>
                </a:lnTo>
                <a:lnTo>
                  <a:pt x="0" y="9418320"/>
                </a:lnTo>
                <a:lnTo>
                  <a:pt x="0" y="0"/>
                </a:lnTo>
                <a:close/>
              </a:path>
            </a:pathLst>
          </a:custGeom>
          <a:blipFill>
            <a:blip r:embed="rId2"/>
            <a:stretch>
              <a:fillRect l="0" t="0" r="0" b="0"/>
            </a:stretch>
          </a:blipFill>
        </p:spPr>
      </p:sp>
      <p:sp>
        <p:nvSpPr>
          <p:cNvPr name="Freeform 3" id="3"/>
          <p:cNvSpPr/>
          <p:nvPr/>
        </p:nvSpPr>
        <p:spPr>
          <a:xfrm flipH="false" flipV="false" rot="0">
            <a:off x="7555908" y="7353236"/>
            <a:ext cx="10226408" cy="1709315"/>
          </a:xfrm>
          <a:custGeom>
            <a:avLst/>
            <a:gdLst/>
            <a:ahLst/>
            <a:cxnLst/>
            <a:rect r="r" b="b" t="t" l="l"/>
            <a:pathLst>
              <a:path h="1709315" w="10226408">
                <a:moveTo>
                  <a:pt x="0" y="0"/>
                </a:moveTo>
                <a:lnTo>
                  <a:pt x="10226409" y="0"/>
                </a:lnTo>
                <a:lnTo>
                  <a:pt x="10226409" y="1709316"/>
                </a:lnTo>
                <a:lnTo>
                  <a:pt x="0" y="1709316"/>
                </a:lnTo>
                <a:lnTo>
                  <a:pt x="0" y="0"/>
                </a:lnTo>
                <a:close/>
              </a:path>
            </a:pathLst>
          </a:custGeom>
          <a:blipFill>
            <a:blip r:embed="rId3"/>
            <a:stretch>
              <a:fillRect l="-2215" t="0" r="-8294"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11480"/>
            <a:ext cx="18288000" cy="9464040"/>
          </a:xfrm>
          <a:custGeom>
            <a:avLst/>
            <a:gdLst/>
            <a:ahLst/>
            <a:cxnLst/>
            <a:rect r="r" b="b" t="t" l="l"/>
            <a:pathLst>
              <a:path h="9464040" w="18288000">
                <a:moveTo>
                  <a:pt x="0" y="0"/>
                </a:moveTo>
                <a:lnTo>
                  <a:pt x="18288000" y="0"/>
                </a:lnTo>
                <a:lnTo>
                  <a:pt x="18288000" y="9464040"/>
                </a:lnTo>
                <a:lnTo>
                  <a:pt x="0" y="9464040"/>
                </a:lnTo>
                <a:lnTo>
                  <a:pt x="0" y="0"/>
                </a:lnTo>
                <a:close/>
              </a:path>
            </a:pathLst>
          </a:custGeom>
          <a:blipFill>
            <a:blip r:embed="rId2"/>
            <a:stretch>
              <a:fillRect l="0" t="0" r="0" b="0"/>
            </a:stretch>
          </a:blipFill>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9528635"/>
          </a:xfrm>
          <a:custGeom>
            <a:avLst/>
            <a:gdLst/>
            <a:ahLst/>
            <a:cxnLst/>
            <a:rect r="r" b="b" t="t" l="l"/>
            <a:pathLst>
              <a:path h="9528635" w="18288000">
                <a:moveTo>
                  <a:pt x="0" y="0"/>
                </a:moveTo>
                <a:lnTo>
                  <a:pt x="18288000" y="0"/>
                </a:lnTo>
                <a:lnTo>
                  <a:pt x="18288000" y="9528635"/>
                </a:lnTo>
                <a:lnTo>
                  <a:pt x="0" y="9528635"/>
                </a:lnTo>
                <a:lnTo>
                  <a:pt x="0" y="0"/>
                </a:lnTo>
                <a:close/>
              </a:path>
            </a:pathLst>
          </a:custGeom>
          <a:blipFill>
            <a:blip r:embed="rId2"/>
            <a:stretch>
              <a:fillRect l="-771" t="0" r="0" b="-813"/>
            </a:stretch>
          </a:blipFill>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45770"/>
            <a:ext cx="18288000" cy="9395460"/>
          </a:xfrm>
          <a:custGeom>
            <a:avLst/>
            <a:gdLst/>
            <a:ahLst/>
            <a:cxnLst/>
            <a:rect r="r" b="b" t="t" l="l"/>
            <a:pathLst>
              <a:path h="9395460" w="18288000">
                <a:moveTo>
                  <a:pt x="0" y="0"/>
                </a:moveTo>
                <a:lnTo>
                  <a:pt x="18288000" y="0"/>
                </a:lnTo>
                <a:lnTo>
                  <a:pt x="18288000" y="9395460"/>
                </a:lnTo>
                <a:lnTo>
                  <a:pt x="0" y="9395460"/>
                </a:lnTo>
                <a:lnTo>
                  <a:pt x="0" y="0"/>
                </a:lnTo>
                <a:close/>
              </a:path>
            </a:pathLst>
          </a:custGeom>
          <a:blipFill>
            <a:blip r:embed="rId2"/>
            <a:stretch>
              <a:fillRect l="0" t="0" r="0" b="0"/>
            </a:stretch>
          </a:blipFill>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34340"/>
            <a:ext cx="18288000" cy="9418320"/>
          </a:xfrm>
          <a:custGeom>
            <a:avLst/>
            <a:gdLst/>
            <a:ahLst/>
            <a:cxnLst/>
            <a:rect r="r" b="b" t="t" l="l"/>
            <a:pathLst>
              <a:path h="9418320" w="18288000">
                <a:moveTo>
                  <a:pt x="0" y="0"/>
                </a:moveTo>
                <a:lnTo>
                  <a:pt x="18288000" y="0"/>
                </a:lnTo>
                <a:lnTo>
                  <a:pt x="18288000" y="9418320"/>
                </a:lnTo>
                <a:lnTo>
                  <a:pt x="0" y="9418320"/>
                </a:lnTo>
                <a:lnTo>
                  <a:pt x="0" y="0"/>
                </a:lnTo>
                <a:close/>
              </a:path>
            </a:pathLst>
          </a:custGeom>
          <a:blipFill>
            <a:blip r:embed="rId2"/>
            <a:stretch>
              <a:fillRect l="0" t="0" r="0" b="0"/>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34340"/>
            <a:ext cx="7041978" cy="9418320"/>
          </a:xfrm>
          <a:custGeom>
            <a:avLst/>
            <a:gdLst/>
            <a:ahLst/>
            <a:cxnLst/>
            <a:rect r="r" b="b" t="t" l="l"/>
            <a:pathLst>
              <a:path h="9418320" w="7041978">
                <a:moveTo>
                  <a:pt x="0" y="0"/>
                </a:moveTo>
                <a:lnTo>
                  <a:pt x="7041978" y="0"/>
                </a:lnTo>
                <a:lnTo>
                  <a:pt x="7041978" y="9418320"/>
                </a:lnTo>
                <a:lnTo>
                  <a:pt x="0" y="9418320"/>
                </a:lnTo>
                <a:lnTo>
                  <a:pt x="0" y="0"/>
                </a:lnTo>
                <a:close/>
              </a:path>
            </a:pathLst>
          </a:custGeom>
          <a:blipFill>
            <a:blip r:embed="rId2"/>
            <a:stretch>
              <a:fillRect l="0" t="0" r="-159699" b="0"/>
            </a:stretch>
          </a:blipFill>
        </p:spPr>
      </p:sp>
      <p:sp>
        <p:nvSpPr>
          <p:cNvPr name="Freeform 3" id="3"/>
          <p:cNvSpPr/>
          <p:nvPr/>
        </p:nvSpPr>
        <p:spPr>
          <a:xfrm flipH="false" flipV="false" rot="0">
            <a:off x="8728037" y="1028700"/>
            <a:ext cx="7703577" cy="3342718"/>
          </a:xfrm>
          <a:custGeom>
            <a:avLst/>
            <a:gdLst/>
            <a:ahLst/>
            <a:cxnLst/>
            <a:rect r="r" b="b" t="t" l="l"/>
            <a:pathLst>
              <a:path h="3342718" w="7703577">
                <a:moveTo>
                  <a:pt x="0" y="0"/>
                </a:moveTo>
                <a:lnTo>
                  <a:pt x="7703577" y="0"/>
                </a:lnTo>
                <a:lnTo>
                  <a:pt x="7703577" y="3342718"/>
                </a:lnTo>
                <a:lnTo>
                  <a:pt x="0" y="3342718"/>
                </a:lnTo>
                <a:lnTo>
                  <a:pt x="0" y="0"/>
                </a:lnTo>
                <a:close/>
              </a:path>
            </a:pathLst>
          </a:custGeom>
          <a:blipFill>
            <a:blip r:embed="rId3"/>
            <a:stretch>
              <a:fillRect l="0" t="-49792" r="-47590" b="0"/>
            </a:stretch>
          </a:blipFill>
        </p:spPr>
      </p:sp>
      <p:sp>
        <p:nvSpPr>
          <p:cNvPr name="Freeform 4" id="4"/>
          <p:cNvSpPr/>
          <p:nvPr/>
        </p:nvSpPr>
        <p:spPr>
          <a:xfrm flipH="false" flipV="false" rot="0">
            <a:off x="8728037" y="7008257"/>
            <a:ext cx="8531263" cy="2250043"/>
          </a:xfrm>
          <a:custGeom>
            <a:avLst/>
            <a:gdLst/>
            <a:ahLst/>
            <a:cxnLst/>
            <a:rect r="r" b="b" t="t" l="l"/>
            <a:pathLst>
              <a:path h="2250043" w="8531263">
                <a:moveTo>
                  <a:pt x="0" y="0"/>
                </a:moveTo>
                <a:lnTo>
                  <a:pt x="8531263" y="0"/>
                </a:lnTo>
                <a:lnTo>
                  <a:pt x="8531263" y="2250043"/>
                </a:lnTo>
                <a:lnTo>
                  <a:pt x="0" y="2250043"/>
                </a:lnTo>
                <a:lnTo>
                  <a:pt x="0" y="0"/>
                </a:lnTo>
                <a:close/>
              </a:path>
            </a:pathLst>
          </a:custGeom>
          <a:blipFill>
            <a:blip r:embed="rId4"/>
            <a:stretch>
              <a:fillRect l="0" t="0" r="-27725" b="0"/>
            </a:stretch>
          </a:blipFill>
        </p:spPr>
      </p:sp>
      <p:grpSp>
        <p:nvGrpSpPr>
          <p:cNvPr name="Group 5" id="5"/>
          <p:cNvGrpSpPr/>
          <p:nvPr/>
        </p:nvGrpSpPr>
        <p:grpSpPr>
          <a:xfrm rot="0">
            <a:off x="11604534" y="4371418"/>
            <a:ext cx="2276386" cy="2298878"/>
            <a:chOff x="0" y="0"/>
            <a:chExt cx="599542" cy="605466"/>
          </a:xfrm>
        </p:grpSpPr>
        <p:sp>
          <p:nvSpPr>
            <p:cNvPr name="Freeform 6" id="6"/>
            <p:cNvSpPr/>
            <p:nvPr/>
          </p:nvSpPr>
          <p:spPr>
            <a:xfrm flipH="false" flipV="false" rot="0">
              <a:off x="0" y="0"/>
              <a:ext cx="599542" cy="605466"/>
            </a:xfrm>
            <a:custGeom>
              <a:avLst/>
              <a:gdLst/>
              <a:ahLst/>
              <a:cxnLst/>
              <a:rect r="r" b="b" t="t" l="l"/>
              <a:pathLst>
                <a:path h="605466" w="599542">
                  <a:moveTo>
                    <a:pt x="299771" y="605466"/>
                  </a:moveTo>
                  <a:lnTo>
                    <a:pt x="0" y="199066"/>
                  </a:lnTo>
                  <a:lnTo>
                    <a:pt x="203200" y="199066"/>
                  </a:lnTo>
                  <a:lnTo>
                    <a:pt x="203200" y="0"/>
                  </a:lnTo>
                  <a:lnTo>
                    <a:pt x="396342" y="0"/>
                  </a:lnTo>
                  <a:lnTo>
                    <a:pt x="396342" y="199066"/>
                  </a:lnTo>
                  <a:lnTo>
                    <a:pt x="599542" y="199066"/>
                  </a:lnTo>
                  <a:lnTo>
                    <a:pt x="299771" y="605466"/>
                  </a:lnTo>
                  <a:close/>
                </a:path>
              </a:pathLst>
            </a:custGeom>
            <a:solidFill>
              <a:srgbClr val="FFC416"/>
            </a:solidFill>
          </p:spPr>
        </p:sp>
        <p:sp>
          <p:nvSpPr>
            <p:cNvPr name="TextBox 7" id="7"/>
            <p:cNvSpPr txBox="true"/>
            <p:nvPr/>
          </p:nvSpPr>
          <p:spPr>
            <a:xfrm>
              <a:off x="203200" y="-28575"/>
              <a:ext cx="193142" cy="532441"/>
            </a:xfrm>
            <a:prstGeom prst="rect">
              <a:avLst/>
            </a:prstGeom>
          </p:spPr>
          <p:txBody>
            <a:bodyPr anchor="ctr" rtlCol="false" tIns="50800" lIns="50800" bIns="50800" rIns="50800"/>
            <a:lstStyle/>
            <a:p>
              <a:pPr algn="ctr">
                <a:lnSpc>
                  <a:spcPts val="1960"/>
                </a:lnSpc>
                <a:spcBef>
                  <a:spcPct val="0"/>
                </a:spcBef>
              </a:pPr>
            </a:p>
          </p:txBody>
        </p:sp>
      </p:gr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271342" y="0"/>
            <a:ext cx="12016658" cy="7867894"/>
          </a:xfrm>
          <a:custGeom>
            <a:avLst/>
            <a:gdLst/>
            <a:ahLst/>
            <a:cxnLst/>
            <a:rect r="r" b="b" t="t" l="l"/>
            <a:pathLst>
              <a:path h="7867894" w="12016658">
                <a:moveTo>
                  <a:pt x="0" y="0"/>
                </a:moveTo>
                <a:lnTo>
                  <a:pt x="12016658" y="0"/>
                </a:lnTo>
                <a:lnTo>
                  <a:pt x="12016658" y="7867894"/>
                </a:lnTo>
                <a:lnTo>
                  <a:pt x="0" y="7867894"/>
                </a:lnTo>
                <a:lnTo>
                  <a:pt x="0" y="0"/>
                </a:lnTo>
                <a:close/>
              </a:path>
            </a:pathLst>
          </a:custGeom>
          <a:blipFill>
            <a:blip r:embed="rId2"/>
            <a:stretch>
              <a:fillRect l="-52188" t="0" r="0" b="-20286"/>
            </a:stretch>
          </a:blipFill>
        </p:spPr>
      </p:sp>
      <p:sp>
        <p:nvSpPr>
          <p:cNvPr name="Freeform 3" id="3"/>
          <p:cNvSpPr/>
          <p:nvPr/>
        </p:nvSpPr>
        <p:spPr>
          <a:xfrm flipH="false" flipV="false" rot="0">
            <a:off x="6629042" y="8608478"/>
            <a:ext cx="11301259" cy="649822"/>
          </a:xfrm>
          <a:custGeom>
            <a:avLst/>
            <a:gdLst/>
            <a:ahLst/>
            <a:cxnLst/>
            <a:rect r="r" b="b" t="t" l="l"/>
            <a:pathLst>
              <a:path h="649822" w="11301259">
                <a:moveTo>
                  <a:pt x="0" y="0"/>
                </a:moveTo>
                <a:lnTo>
                  <a:pt x="11301259" y="0"/>
                </a:lnTo>
                <a:lnTo>
                  <a:pt x="11301259" y="649822"/>
                </a:lnTo>
                <a:lnTo>
                  <a:pt x="0" y="649822"/>
                </a:lnTo>
                <a:lnTo>
                  <a:pt x="0" y="0"/>
                </a:lnTo>
                <a:close/>
              </a:path>
            </a:pathLst>
          </a:custGeom>
          <a:blipFill>
            <a:blip r:embed="rId3"/>
            <a:stretch>
              <a:fillRect l="0" t="0" r="0" b="0"/>
            </a:stretch>
          </a:blipFill>
        </p:spPr>
      </p:sp>
      <p:sp>
        <p:nvSpPr>
          <p:cNvPr name="TextBox 4" id="4"/>
          <p:cNvSpPr txBox="true"/>
          <p:nvPr/>
        </p:nvSpPr>
        <p:spPr>
          <a:xfrm rot="0">
            <a:off x="799944" y="1565265"/>
            <a:ext cx="5405329" cy="8359140"/>
          </a:xfrm>
          <a:prstGeom prst="rect">
            <a:avLst/>
          </a:prstGeom>
        </p:spPr>
        <p:txBody>
          <a:bodyPr anchor="t" rtlCol="false" tIns="0" lIns="0" bIns="0" rIns="0">
            <a:spAutoFit/>
          </a:bodyPr>
          <a:lstStyle/>
          <a:p>
            <a:pPr algn="l">
              <a:lnSpc>
                <a:spcPts val="3359"/>
              </a:lnSpc>
              <a:spcBef>
                <a:spcPct val="0"/>
              </a:spcBef>
            </a:pPr>
            <a:r>
              <a:rPr lang="en-US" sz="2400">
                <a:solidFill>
                  <a:srgbClr val="000000"/>
                </a:solidFill>
                <a:latin typeface="Canva Sans"/>
                <a:ea typeface="Canva Sans"/>
                <a:cs typeface="Canva Sans"/>
                <a:sym typeface="Canva Sans"/>
              </a:rPr>
              <a:t>Dimensionality Reducti</a:t>
            </a:r>
            <a:r>
              <a:rPr lang="en-US" sz="2400">
                <a:solidFill>
                  <a:srgbClr val="000000"/>
                </a:solidFill>
                <a:latin typeface="Canva Sans"/>
                <a:ea typeface="Canva Sans"/>
                <a:cs typeface="Canva Sans"/>
                <a:sym typeface="Canva Sans"/>
              </a:rPr>
              <a:t>on techniques are used to reduce the number of features while retaining as much important information as possible. This helps simplify the model, improve computational efficiency, and reduce overfitting by removing redundant or less informative features.</a:t>
            </a:r>
          </a:p>
          <a:p>
            <a:pPr algn="l">
              <a:lnSpc>
                <a:spcPts val="3359"/>
              </a:lnSpc>
              <a:spcBef>
                <a:spcPct val="0"/>
              </a:spcBef>
            </a:pPr>
          </a:p>
          <a:p>
            <a:pPr algn="l">
              <a:lnSpc>
                <a:spcPts val="3359"/>
              </a:lnSpc>
              <a:spcBef>
                <a:spcPct val="0"/>
              </a:spcBef>
            </a:pPr>
            <a:r>
              <a:rPr lang="en-US" sz="2400">
                <a:solidFill>
                  <a:srgbClr val="000000"/>
                </a:solidFill>
                <a:latin typeface="Canva Sans"/>
                <a:ea typeface="Canva Sans"/>
                <a:cs typeface="Canva Sans"/>
                <a:sym typeface="Canva Sans"/>
              </a:rPr>
              <a:t>We performed correlation-based </a:t>
            </a:r>
            <a:r>
              <a:rPr lang="en-US" b="true" sz="2400">
                <a:solidFill>
                  <a:srgbClr val="000000"/>
                </a:solidFill>
                <a:latin typeface="Canva Sans Bold"/>
                <a:ea typeface="Canva Sans Bold"/>
                <a:cs typeface="Canva Sans Bold"/>
                <a:sym typeface="Canva Sans Bold"/>
              </a:rPr>
              <a:t>feature selection</a:t>
            </a:r>
            <a:r>
              <a:rPr lang="en-US" sz="2400">
                <a:solidFill>
                  <a:srgbClr val="000000"/>
                </a:solidFill>
                <a:latin typeface="Canva Sans"/>
                <a:ea typeface="Canva Sans"/>
                <a:cs typeface="Canva Sans"/>
                <a:sym typeface="Canva Sans"/>
              </a:rPr>
              <a:t> to remove highly correlated features.</a:t>
            </a:r>
          </a:p>
          <a:p>
            <a:pPr algn="l">
              <a:lnSpc>
                <a:spcPts val="3359"/>
              </a:lnSpc>
              <a:spcBef>
                <a:spcPct val="0"/>
              </a:spcBef>
            </a:pPr>
            <a:r>
              <a:rPr lang="en-US" sz="2400">
                <a:solidFill>
                  <a:srgbClr val="000000"/>
                </a:solidFill>
                <a:latin typeface="Canva Sans"/>
                <a:ea typeface="Canva Sans"/>
                <a:cs typeface="Canva Sans"/>
                <a:sym typeface="Canva Sans"/>
              </a:rPr>
              <a:t>When two variables are strongly correlated (above 0.9), they carry redundant information.</a:t>
            </a:r>
          </a:p>
          <a:p>
            <a:pPr algn="l">
              <a:lnSpc>
                <a:spcPts val="3359"/>
              </a:lnSpc>
              <a:spcBef>
                <a:spcPct val="0"/>
              </a:spcBef>
            </a:pPr>
            <a:r>
              <a:rPr lang="en-US" sz="2400">
                <a:solidFill>
                  <a:srgbClr val="000000"/>
                </a:solidFill>
                <a:latin typeface="Canva Sans"/>
                <a:ea typeface="Canva Sans"/>
                <a:cs typeface="Canva Sans"/>
                <a:sym typeface="Canva Sans"/>
              </a:rPr>
              <a:t>Keeping both can introduce multicollinearity, increase model complexity, and negatively affect model stability.</a:t>
            </a:r>
          </a:p>
        </p:txBody>
      </p:sp>
      <p:sp>
        <p:nvSpPr>
          <p:cNvPr name="TextBox 5" id="5"/>
          <p:cNvSpPr txBox="true"/>
          <p:nvPr/>
        </p:nvSpPr>
        <p:spPr>
          <a:xfrm rot="0">
            <a:off x="799944" y="448310"/>
            <a:ext cx="5471398" cy="58039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Canva Sans Bold"/>
                <a:ea typeface="Canva Sans Bold"/>
                <a:cs typeface="Canva Sans Bold"/>
                <a:sym typeface="Canva Sans Bold"/>
              </a:rPr>
              <a:t>Dimensi</a:t>
            </a:r>
            <a:r>
              <a:rPr lang="en-US" b="true" sz="3399">
                <a:solidFill>
                  <a:srgbClr val="000000"/>
                </a:solidFill>
                <a:latin typeface="Canva Sans Bold"/>
                <a:ea typeface="Canva Sans Bold"/>
                <a:cs typeface="Canva Sans Bold"/>
                <a:sym typeface="Canva Sans Bold"/>
              </a:rPr>
              <a:t>onality Reduction</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57200"/>
            <a:ext cx="18288000" cy="9372600"/>
          </a:xfrm>
          <a:custGeom>
            <a:avLst/>
            <a:gdLst/>
            <a:ahLst/>
            <a:cxnLst/>
            <a:rect r="r" b="b" t="t" l="l"/>
            <a:pathLst>
              <a:path h="9372600" w="18288000">
                <a:moveTo>
                  <a:pt x="0" y="0"/>
                </a:moveTo>
                <a:lnTo>
                  <a:pt x="18288000" y="0"/>
                </a:lnTo>
                <a:lnTo>
                  <a:pt x="18288000" y="9372600"/>
                </a:lnTo>
                <a:lnTo>
                  <a:pt x="0" y="9372600"/>
                </a:lnTo>
                <a:lnTo>
                  <a:pt x="0" y="0"/>
                </a:lnTo>
                <a:close/>
              </a:path>
            </a:pathLst>
          </a:custGeom>
          <a:blipFill>
            <a:blip r:embed="rId2"/>
            <a:stretch>
              <a:fillRect l="0" t="0" r="0" b="0"/>
            </a:stretch>
          </a:blipFill>
        </p:spPr>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57200"/>
            <a:ext cx="18288000" cy="9372600"/>
          </a:xfrm>
          <a:custGeom>
            <a:avLst/>
            <a:gdLst/>
            <a:ahLst/>
            <a:cxnLst/>
            <a:rect r="r" b="b" t="t" l="l"/>
            <a:pathLst>
              <a:path h="9372600" w="18288000">
                <a:moveTo>
                  <a:pt x="0" y="0"/>
                </a:moveTo>
                <a:lnTo>
                  <a:pt x="18288000" y="0"/>
                </a:lnTo>
                <a:lnTo>
                  <a:pt x="18288000" y="9372600"/>
                </a:lnTo>
                <a:lnTo>
                  <a:pt x="0" y="9372600"/>
                </a:lnTo>
                <a:lnTo>
                  <a:pt x="0" y="0"/>
                </a:lnTo>
                <a:close/>
              </a:path>
            </a:pathLst>
          </a:custGeom>
          <a:blipFill>
            <a:blip r:embed="rId2"/>
            <a:stretch>
              <a:fillRect l="0" t="0" r="0" b="0"/>
            </a:stretch>
          </a:blipFill>
        </p:spPr>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8575" y="468630"/>
            <a:ext cx="18288000" cy="9349740"/>
          </a:xfrm>
          <a:custGeom>
            <a:avLst/>
            <a:gdLst/>
            <a:ahLst/>
            <a:cxnLst/>
            <a:rect r="r" b="b" t="t" l="l"/>
            <a:pathLst>
              <a:path h="9349740" w="18288000">
                <a:moveTo>
                  <a:pt x="0" y="0"/>
                </a:moveTo>
                <a:lnTo>
                  <a:pt x="18288000" y="0"/>
                </a:lnTo>
                <a:lnTo>
                  <a:pt x="18288000" y="9349740"/>
                </a:lnTo>
                <a:lnTo>
                  <a:pt x="0" y="9349740"/>
                </a:lnTo>
                <a:lnTo>
                  <a:pt x="0" y="0"/>
                </a:lnTo>
                <a:close/>
              </a:path>
            </a:pathLst>
          </a:custGeom>
          <a:blipFill>
            <a:blip r:embed="rId2"/>
            <a:stretch>
              <a:fillRect l="0" t="0" r="0" b="0"/>
            </a:stretch>
          </a:blipFill>
        </p:spPr>
      </p:sp>
      <p:sp>
        <p:nvSpPr>
          <p:cNvPr name="TextBox 3" id="3"/>
          <p:cNvSpPr txBox="true"/>
          <p:nvPr/>
        </p:nvSpPr>
        <p:spPr>
          <a:xfrm rot="0">
            <a:off x="9144000" y="5619579"/>
            <a:ext cx="692944" cy="323214"/>
          </a:xfrm>
          <a:prstGeom prst="rect">
            <a:avLst/>
          </a:prstGeom>
        </p:spPr>
        <p:txBody>
          <a:bodyPr anchor="t" rtlCol="false" tIns="0" lIns="0" bIns="0" rIns="0">
            <a:spAutoFit/>
          </a:bodyPr>
          <a:lstStyle/>
          <a:p>
            <a:pPr algn="ctr">
              <a:lnSpc>
                <a:spcPts val="2660"/>
              </a:lnSpc>
              <a:spcBef>
                <a:spcPct val="0"/>
              </a:spcBef>
            </a:pPr>
            <a:r>
              <a:rPr lang="en-US" sz="1900">
                <a:solidFill>
                  <a:srgbClr val="1A1A43"/>
                </a:solidFill>
                <a:latin typeface="Glacial Indifference"/>
                <a:ea typeface="Glacial Indifference"/>
                <a:cs typeface="Glacial Indifference"/>
                <a:sym typeface="Glacial Indifference"/>
              </a:rPr>
              <a:t>F1=0.91</a:t>
            </a:r>
          </a:p>
        </p:txBody>
      </p:sp>
      <p:sp>
        <p:nvSpPr>
          <p:cNvPr name="TextBox 4" id="4"/>
          <p:cNvSpPr txBox="true"/>
          <p:nvPr/>
        </p:nvSpPr>
        <p:spPr>
          <a:xfrm rot="0">
            <a:off x="9109412" y="6617402"/>
            <a:ext cx="762119" cy="323214"/>
          </a:xfrm>
          <a:prstGeom prst="rect">
            <a:avLst/>
          </a:prstGeom>
        </p:spPr>
        <p:txBody>
          <a:bodyPr anchor="t" rtlCol="false" tIns="0" lIns="0" bIns="0" rIns="0">
            <a:spAutoFit/>
          </a:bodyPr>
          <a:lstStyle/>
          <a:p>
            <a:pPr algn="ctr">
              <a:lnSpc>
                <a:spcPts val="2660"/>
              </a:lnSpc>
              <a:spcBef>
                <a:spcPct val="0"/>
              </a:spcBef>
            </a:pPr>
            <a:r>
              <a:rPr lang="en-US" sz="1900">
                <a:solidFill>
                  <a:srgbClr val="1A1A43"/>
                </a:solidFill>
                <a:latin typeface="Glacial Indifference"/>
                <a:ea typeface="Glacial Indifference"/>
                <a:cs typeface="Glacial Indifference"/>
                <a:sym typeface="Glacial Indifference"/>
              </a:rPr>
              <a:t>F1=0.80</a:t>
            </a:r>
          </a:p>
        </p:txBody>
      </p:sp>
      <p:sp>
        <p:nvSpPr>
          <p:cNvPr name="TextBox 5" id="5"/>
          <p:cNvSpPr txBox="true"/>
          <p:nvPr/>
        </p:nvSpPr>
        <p:spPr>
          <a:xfrm rot="0">
            <a:off x="9633572" y="4620090"/>
            <a:ext cx="775454" cy="323214"/>
          </a:xfrm>
          <a:prstGeom prst="rect">
            <a:avLst/>
          </a:prstGeom>
        </p:spPr>
        <p:txBody>
          <a:bodyPr anchor="t" rtlCol="false" tIns="0" lIns="0" bIns="0" rIns="0">
            <a:spAutoFit/>
          </a:bodyPr>
          <a:lstStyle/>
          <a:p>
            <a:pPr algn="ctr">
              <a:lnSpc>
                <a:spcPts val="2660"/>
              </a:lnSpc>
              <a:spcBef>
                <a:spcPct val="0"/>
              </a:spcBef>
            </a:pPr>
            <a:r>
              <a:rPr lang="en-US" sz="1900">
                <a:solidFill>
                  <a:srgbClr val="1A1A43"/>
                </a:solidFill>
                <a:latin typeface="Glacial Indifference"/>
                <a:ea typeface="Glacial Indifference"/>
                <a:cs typeface="Glacial Indifference"/>
                <a:sym typeface="Glacial Indifference"/>
              </a:rPr>
              <a:t>F1=0.82</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6253" y="976477"/>
            <a:ext cx="18424253" cy="9310523"/>
          </a:xfrm>
          <a:custGeom>
            <a:avLst/>
            <a:gdLst/>
            <a:ahLst/>
            <a:cxnLst/>
            <a:rect r="r" b="b" t="t" l="l"/>
            <a:pathLst>
              <a:path h="9310523" w="18424253">
                <a:moveTo>
                  <a:pt x="0" y="0"/>
                </a:moveTo>
                <a:lnTo>
                  <a:pt x="18424253" y="0"/>
                </a:lnTo>
                <a:lnTo>
                  <a:pt x="18424253" y="9310523"/>
                </a:lnTo>
                <a:lnTo>
                  <a:pt x="0" y="9310523"/>
                </a:lnTo>
                <a:lnTo>
                  <a:pt x="0" y="0"/>
                </a:lnTo>
                <a:close/>
              </a:path>
            </a:pathLst>
          </a:custGeom>
          <a:blipFill>
            <a:blip r:embed="rId2"/>
            <a:stretch>
              <a:fillRect l="-150" t="-1816" r="0" b="0"/>
            </a:stretch>
          </a:blipFill>
        </p:spPr>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57200"/>
            <a:ext cx="18288000" cy="9372600"/>
          </a:xfrm>
          <a:custGeom>
            <a:avLst/>
            <a:gdLst/>
            <a:ahLst/>
            <a:cxnLst/>
            <a:rect r="r" b="b" t="t" l="l"/>
            <a:pathLst>
              <a:path h="9372600" w="18288000">
                <a:moveTo>
                  <a:pt x="0" y="0"/>
                </a:moveTo>
                <a:lnTo>
                  <a:pt x="18288000" y="0"/>
                </a:lnTo>
                <a:lnTo>
                  <a:pt x="18288000" y="9372600"/>
                </a:lnTo>
                <a:lnTo>
                  <a:pt x="0" y="9372600"/>
                </a:lnTo>
                <a:lnTo>
                  <a:pt x="0" y="0"/>
                </a:lnTo>
                <a:close/>
              </a:path>
            </a:pathLst>
          </a:custGeom>
          <a:blipFill>
            <a:blip r:embed="rId2"/>
            <a:stretch>
              <a:fillRect l="0" t="0" r="0" b="0"/>
            </a:stretch>
          </a:blipFill>
        </p:spPr>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76884"/>
            <a:ext cx="18288000" cy="9387206"/>
          </a:xfrm>
          <a:custGeom>
            <a:avLst/>
            <a:gdLst/>
            <a:ahLst/>
            <a:cxnLst/>
            <a:rect r="r" b="b" t="t" l="l"/>
            <a:pathLst>
              <a:path h="9387206" w="18288000">
                <a:moveTo>
                  <a:pt x="0" y="0"/>
                </a:moveTo>
                <a:lnTo>
                  <a:pt x="18288000" y="0"/>
                </a:lnTo>
                <a:lnTo>
                  <a:pt x="18288000" y="9387206"/>
                </a:lnTo>
                <a:lnTo>
                  <a:pt x="0" y="9387206"/>
                </a:lnTo>
                <a:lnTo>
                  <a:pt x="0" y="0"/>
                </a:lnTo>
                <a:close/>
              </a:path>
            </a:pathLst>
          </a:custGeom>
          <a:blipFill>
            <a:blip r:embed="rId2"/>
            <a:stretch>
              <a:fillRect l="0" t="-574" r="0" b="0"/>
            </a:stretch>
          </a:blipFill>
        </p:spPr>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885641"/>
            <a:ext cx="18288000" cy="9401359"/>
          </a:xfrm>
          <a:custGeom>
            <a:avLst/>
            <a:gdLst/>
            <a:ahLst/>
            <a:cxnLst/>
            <a:rect r="r" b="b" t="t" l="l"/>
            <a:pathLst>
              <a:path h="9401359" w="18288000">
                <a:moveTo>
                  <a:pt x="0" y="0"/>
                </a:moveTo>
                <a:lnTo>
                  <a:pt x="18288000" y="0"/>
                </a:lnTo>
                <a:lnTo>
                  <a:pt x="18288000" y="9401359"/>
                </a:lnTo>
                <a:lnTo>
                  <a:pt x="0" y="9401359"/>
                </a:lnTo>
                <a:lnTo>
                  <a:pt x="0" y="0"/>
                </a:lnTo>
                <a:close/>
              </a:path>
            </a:pathLst>
          </a:custGeom>
          <a:blipFill>
            <a:blip r:embed="rId2"/>
            <a:stretch>
              <a:fillRect l="0" t="-666" r="0" b="0"/>
            </a:stretch>
          </a:blipFill>
        </p:spPr>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0821" y="0"/>
            <a:ext cx="18369643" cy="10287000"/>
          </a:xfrm>
          <a:custGeom>
            <a:avLst/>
            <a:gdLst/>
            <a:ahLst/>
            <a:cxnLst/>
            <a:rect r="r" b="b" t="t" l="l"/>
            <a:pathLst>
              <a:path h="10287000" w="18369643">
                <a:moveTo>
                  <a:pt x="0" y="0"/>
                </a:moveTo>
                <a:lnTo>
                  <a:pt x="18369642" y="0"/>
                </a:lnTo>
                <a:lnTo>
                  <a:pt x="18369642" y="10287000"/>
                </a:lnTo>
                <a:lnTo>
                  <a:pt x="0" y="10287000"/>
                </a:lnTo>
                <a:lnTo>
                  <a:pt x="0" y="0"/>
                </a:lnTo>
                <a:close/>
              </a:path>
            </a:pathLst>
          </a:custGeom>
          <a:blipFill>
            <a:blip r:embed="rId2"/>
            <a:stretch>
              <a:fillRect l="0" t="0" r="0" b="0"/>
            </a:stretch>
          </a:blipFill>
        </p:spPr>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9878261" cy="10287000"/>
          </a:xfrm>
          <a:custGeom>
            <a:avLst/>
            <a:gdLst/>
            <a:ahLst/>
            <a:cxnLst/>
            <a:rect r="r" b="b" t="t" l="l"/>
            <a:pathLst>
              <a:path h="10287000" w="19878261">
                <a:moveTo>
                  <a:pt x="0" y="0"/>
                </a:moveTo>
                <a:lnTo>
                  <a:pt x="19878261" y="0"/>
                </a:lnTo>
                <a:lnTo>
                  <a:pt x="19878261" y="10287000"/>
                </a:lnTo>
                <a:lnTo>
                  <a:pt x="0" y="10287000"/>
                </a:lnTo>
                <a:lnTo>
                  <a:pt x="0" y="0"/>
                </a:lnTo>
                <a:close/>
              </a:path>
            </a:pathLst>
          </a:custGeom>
          <a:blipFill>
            <a:blip r:embed="rId2"/>
            <a:stretch>
              <a:fillRect l="0" t="0" r="0" b="0"/>
            </a:stretch>
          </a:blipFill>
        </p:spPr>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20170588" cy="10287000"/>
          </a:xfrm>
          <a:custGeom>
            <a:avLst/>
            <a:gdLst/>
            <a:ahLst/>
            <a:cxnLst/>
            <a:rect r="r" b="b" t="t" l="l"/>
            <a:pathLst>
              <a:path h="10287000" w="20170588">
                <a:moveTo>
                  <a:pt x="0" y="0"/>
                </a:moveTo>
                <a:lnTo>
                  <a:pt x="20170588" y="0"/>
                </a:lnTo>
                <a:lnTo>
                  <a:pt x="20170588" y="10287000"/>
                </a:lnTo>
                <a:lnTo>
                  <a:pt x="0" y="10287000"/>
                </a:lnTo>
                <a:lnTo>
                  <a:pt x="0" y="0"/>
                </a:lnTo>
                <a:close/>
              </a:path>
            </a:pathLst>
          </a:custGeom>
          <a:blipFill>
            <a:blip r:embed="rId2"/>
            <a:stretch>
              <a:fillRect l="0" t="0" r="0" b="0"/>
            </a:stretch>
          </a:blipFill>
        </p:spPr>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9242464"/>
          </a:xfrm>
          <a:custGeom>
            <a:avLst/>
            <a:gdLst/>
            <a:ahLst/>
            <a:cxnLst/>
            <a:rect r="r" b="b" t="t" l="l"/>
            <a:pathLst>
              <a:path h="9242464" w="18288000">
                <a:moveTo>
                  <a:pt x="0" y="0"/>
                </a:moveTo>
                <a:lnTo>
                  <a:pt x="18288000" y="0"/>
                </a:lnTo>
                <a:lnTo>
                  <a:pt x="18288000" y="9242464"/>
                </a:lnTo>
                <a:lnTo>
                  <a:pt x="0" y="9242464"/>
                </a:lnTo>
                <a:lnTo>
                  <a:pt x="0" y="0"/>
                </a:lnTo>
                <a:close/>
              </a:path>
            </a:pathLst>
          </a:custGeom>
          <a:blipFill>
            <a:blip r:embed="rId2"/>
            <a:stretch>
              <a:fillRect l="0" t="0" r="0" b="-215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DAHA3XDbQs8</dc:identifier>
  <dcterms:modified xsi:type="dcterms:W3CDTF">2011-08-01T06:04:30Z</dcterms:modified>
  <cp:revision>1</cp:revision>
  <dc:title>Dimensionality reduction techniques are used to reduce the number of features while retaining as much important information as possible. This helps simplify the model, improve computational efficiency, and reduce overfitting by removing redundant or less</dc:title>
</cp:coreProperties>
</file>